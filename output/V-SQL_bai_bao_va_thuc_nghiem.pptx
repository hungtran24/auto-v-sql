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cdc820c20ac44c2" /><Relationship Type="http://schemas.openxmlformats.org/officeDocument/2006/relationships/extended-properties" Target="/docProps/app.xml" Id="R2026dde9e4b74bf8" /><Relationship Type="http://schemas.openxmlformats.org/officeDocument/2006/relationships/officeDocument" Target="/ppt/presentation.xml" Id="R5d94b921eed14b6a" /></Relationships>
</file>

<file path=ppt/presentation.xml><?xml version="1.0" encoding="utf-8"?>
<p:presentation xmlns:p="http://schemas.openxmlformats.org/presentationml/2006/main">
  <p:sldMasterIdLst>
    <p:sldMasterId xmlns:r="http://schemas.openxmlformats.org/officeDocument/2006/relationships" id="2147483648" r:id="Rf6a07e1963414348"/>
  </p:sldMasterIdLst>
  <p:notesMasterIdLst>
    <p:notesMasterId xmlns:r="http://schemas.openxmlformats.org/officeDocument/2006/relationships" r:id="R17af69ac812d4c3c"/>
  </p:notesMasterIdLst>
  <p:sldIdLst>
    <p:sldId xmlns:r="http://schemas.openxmlformats.org/officeDocument/2006/relationships" id="256" r:id="R3b3fcc7246e64e25"/>
    <p:sldId xmlns:r="http://schemas.openxmlformats.org/officeDocument/2006/relationships" id="257" r:id="Ra470418704d74a47"/>
    <p:sldId xmlns:r="http://schemas.openxmlformats.org/officeDocument/2006/relationships" id="258" r:id="R404c04ce4a324674"/>
    <p:sldId xmlns:r="http://schemas.openxmlformats.org/officeDocument/2006/relationships" id="259" r:id="R1ebe65e55e3441de"/>
    <p:sldId xmlns:r="http://schemas.openxmlformats.org/officeDocument/2006/relationships" id="260" r:id="Ra47dd1d041f14813"/>
    <p:sldId xmlns:r="http://schemas.openxmlformats.org/officeDocument/2006/relationships" id="261" r:id="Rb92dca798a4b4533"/>
    <p:sldId xmlns:r="http://schemas.openxmlformats.org/officeDocument/2006/relationships" id="262" r:id="R6f25ad717c6942b2"/>
    <p:sldId xmlns:r="http://schemas.openxmlformats.org/officeDocument/2006/relationships" id="263" r:id="Rfddc1e03bd9b4bfd"/>
    <p:sldId xmlns:r="http://schemas.openxmlformats.org/officeDocument/2006/relationships" id="264" r:id="Re677acfe84dc4548"/>
    <p:sldId xmlns:r="http://schemas.openxmlformats.org/officeDocument/2006/relationships" id="265" r:id="R8b1ed1b091e54dd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5dfd23fcf744db7" /><Relationship Type="http://schemas.openxmlformats.org/officeDocument/2006/relationships/slideMaster" Target="/ppt/slideMasters/slideMaster1.xml" Id="Rf6a07e1963414348" /><Relationship Type="http://schemas.openxmlformats.org/officeDocument/2006/relationships/notesMaster" Target="/ppt/notesMasters/notesMaster1.xml" Id="R17af69ac812d4c3c" /><Relationship Type="http://schemas.openxmlformats.org/officeDocument/2006/relationships/presProps" Target="/ppt/presProps.xml" Id="R840a77cf62b04c8c" /><Relationship Type="http://schemas.openxmlformats.org/officeDocument/2006/relationships/tableStyles" Target="/ppt/tableStyles.xml" Id="R6ff68049b895496b" /><Relationship Type="http://schemas.openxmlformats.org/officeDocument/2006/relationships/slide" Target="/ppt/slides/slide1.xml" Id="R3b3fcc7246e64e25" /><Relationship Type="http://schemas.openxmlformats.org/officeDocument/2006/relationships/slide" Target="/ppt/slides/slide2.xml" Id="Ra470418704d74a47" /><Relationship Type="http://schemas.openxmlformats.org/officeDocument/2006/relationships/slide" Target="/ppt/slides/slide3.xml" Id="R404c04ce4a324674" /><Relationship Type="http://schemas.openxmlformats.org/officeDocument/2006/relationships/slide" Target="/ppt/slides/slide4.xml" Id="R1ebe65e55e3441de" /><Relationship Type="http://schemas.openxmlformats.org/officeDocument/2006/relationships/slide" Target="/ppt/slides/slide5.xml" Id="Ra47dd1d041f14813" /><Relationship Type="http://schemas.openxmlformats.org/officeDocument/2006/relationships/slide" Target="/ppt/slides/slide6.xml" Id="Rb92dca798a4b4533" /><Relationship Type="http://schemas.openxmlformats.org/officeDocument/2006/relationships/slide" Target="/ppt/slides/slide7.xml" Id="R6f25ad717c6942b2" /><Relationship Type="http://schemas.openxmlformats.org/officeDocument/2006/relationships/slide" Target="/ppt/slides/slide8.xml" Id="Rfddc1e03bd9b4bfd" /><Relationship Type="http://schemas.openxmlformats.org/officeDocument/2006/relationships/slide" Target="/ppt/slides/slide9.xml" Id="Re677acfe84dc4548" /><Relationship Type="http://schemas.openxmlformats.org/officeDocument/2006/relationships/slide" Target="/ppt/slides/slide10.xml" Id="R8b1ed1b091e54dd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66af24c9cbd4cf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dd2119b63cf4c74" /><Relationship Type="http://schemas.openxmlformats.org/officeDocument/2006/relationships/notesMaster" Target="/ppt/notesMasters/notesMaster1.xml" Id="Rbaadea15fb2046a2" /></Relationships>
</file>

<file path=ppt/notesSlides/_rels/notesSlide2.xml.rels>&#65279;<?xml version="1.0" encoding="utf-8"?><Relationships xmlns="http://schemas.openxmlformats.org/package/2006/relationships"><Relationship Type="http://schemas.openxmlformats.org/officeDocument/2006/relationships/slide" Target="/ppt/slides/slide2.xml" Id="R3c94e92b4e0c42b3" /><Relationship Type="http://schemas.openxmlformats.org/officeDocument/2006/relationships/notesMaster" Target="/ppt/notesMasters/notesMaster1.xml" Id="Rbdc413be6a794cf0" /></Relationships>
</file>

<file path=ppt/notesSlides/_rels/notesSlide3.xml.rels>&#65279;<?xml version="1.0" encoding="utf-8"?><Relationships xmlns="http://schemas.openxmlformats.org/package/2006/relationships"><Relationship Type="http://schemas.openxmlformats.org/officeDocument/2006/relationships/slide" Target="/ppt/slides/slide3.xml" Id="Rc55cbf356e6d41d7" /><Relationship Type="http://schemas.openxmlformats.org/officeDocument/2006/relationships/notesMaster" Target="/ppt/notesMasters/notesMaster1.xml" Id="R27ce4ff096544897" /></Relationships>
</file>

<file path=ppt/notesSlides/_rels/notesSlide4.xml.rels>&#65279;<?xml version="1.0" encoding="utf-8"?><Relationships xmlns="http://schemas.openxmlformats.org/package/2006/relationships"><Relationship Type="http://schemas.openxmlformats.org/officeDocument/2006/relationships/slide" Target="/ppt/slides/slide4.xml" Id="R47cbfdfdc6ea45a9" /><Relationship Type="http://schemas.openxmlformats.org/officeDocument/2006/relationships/notesMaster" Target="/ppt/notesMasters/notesMaster1.xml" Id="Rb8cc59b15c0c428b" /></Relationships>
</file>

<file path=ppt/notesSlides/_rels/notesSlide5.xml.rels>&#65279;<?xml version="1.0" encoding="utf-8"?><Relationships xmlns="http://schemas.openxmlformats.org/package/2006/relationships"><Relationship Type="http://schemas.openxmlformats.org/officeDocument/2006/relationships/slide" Target="/ppt/slides/slide5.xml" Id="Racb7215333e841d8" /><Relationship Type="http://schemas.openxmlformats.org/officeDocument/2006/relationships/notesMaster" Target="/ppt/notesMasters/notesMaster1.xml" Id="R26d17569b0fb41d2" /></Relationships>
</file>

<file path=ppt/notesSlides/_rels/notesSlide6.xml.rels>&#65279;<?xml version="1.0" encoding="utf-8"?><Relationships xmlns="http://schemas.openxmlformats.org/package/2006/relationships"><Relationship Type="http://schemas.openxmlformats.org/officeDocument/2006/relationships/slide" Target="/ppt/slides/slide6.xml" Id="Rcfe3f3f9d65e4f24" /><Relationship Type="http://schemas.openxmlformats.org/officeDocument/2006/relationships/notesMaster" Target="/ppt/notesMasters/notesMaster1.xml" Id="Rda9309097ff748ae" /></Relationships>
</file>

<file path=ppt/notesSlides/_rels/notesSlide7.xml.rels>&#65279;<?xml version="1.0" encoding="utf-8"?><Relationships xmlns="http://schemas.openxmlformats.org/package/2006/relationships"><Relationship Type="http://schemas.openxmlformats.org/officeDocument/2006/relationships/slide" Target="/ppt/slides/slide7.xml" Id="R4c5a6d51fd4c48f9" /><Relationship Type="http://schemas.openxmlformats.org/officeDocument/2006/relationships/notesMaster" Target="/ppt/notesMasters/notesMaster1.xml" Id="R9b379d73648a4296" /></Relationships>
</file>

<file path=ppt/notesSlides/_rels/notesSlide8.xml.rels>&#65279;<?xml version="1.0" encoding="utf-8"?><Relationships xmlns="http://schemas.openxmlformats.org/package/2006/relationships"><Relationship Type="http://schemas.openxmlformats.org/officeDocument/2006/relationships/slide" Target="/ppt/slides/slide8.xml" Id="R7cdea560bb484b6e" /><Relationship Type="http://schemas.openxmlformats.org/officeDocument/2006/relationships/notesMaster" Target="/ppt/notesMasters/notesMaster1.xml" Id="Re7471d916d5849ac" /></Relationships>
</file>

<file path=ppt/notesSlides/_rels/notesSlide9.xml.rels>&#65279;<?xml version="1.0" encoding="utf-8"?><Relationships xmlns="http://schemas.openxmlformats.org/package/2006/relationships"><Relationship Type="http://schemas.openxmlformats.org/officeDocument/2006/relationships/slide" Target="/ppt/slides/slide9.xml" Id="Rffe2d69dbf1b44e0" /><Relationship Type="http://schemas.openxmlformats.org/officeDocument/2006/relationships/notesMaster" Target="/ppt/notesMasters/notesMaster1.xml" Id="R5ef73adc702d4d0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31b09f36db74daf" /><Relationship Type="http://schemas.openxmlformats.org/officeDocument/2006/relationships/notesMaster" Target="/ppt/notesMasters/notesMaster1.xml" Id="R462c8f721abc455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You và cộng sự, V-SQL: A View-based Two-stage Text-to-SQL Framework, PDF nguồn. README.md.</a:t>
            </a:r>
          </a:p>
          <a:p xmlns:a="http://schemas.openxmlformats.org/drawingml/2006/main">
            <a:r>
              <a:t/>
            </a:r>
          </a:p>
          <a:p xmlns:a="http://schemas.openxmlformats.org/drawingml/2006/main">
            <a:r>
              <a:t>Báo cáo gồm hai phần. Phần đầu trình bày bài báo gốc: bài toán, view-based schema, quy trình hai giai đoạn, ví dụ và kết quả BIRD. Phần sau trình bày thực nghiệm của Trần Quốc Hùng và mở rộng Auto-V-SQL. Tác giả bài báo: Zeshun You, Jiebin Yao, Dong Cheng, Zhiwei Wen, Zhiliang Lu, Xianyi Shen, Guangzhou Huaweisoft. Năm 2024 theo tên tệp nguồn.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PDF V-SQL, mục 1–2 và Bảng 1.</a:t>
            </a:r>
          </a:p>
          <a:p xmlns:a="http://schemas.openxmlformats.org/drawingml/2006/main">
            <a:r>
              <a:t/>
            </a:r>
          </a:p>
          <a:p xmlns:a="http://schemas.openxmlformats.org/drawingml/2006/main">
            <a:r>
              <a:t>Text-to-SQL chuyển câu hỏi tự nhiên thành SQL thực thi. Các hướng trước tập trung schema linking: chọn bảng và cột phù hợp. Bài báo cho rằng chỉ liên kết câu hỏi với lược đồ chưa đủ, cần cải thiện cách biểu diễn lược đồ vì quan hệ khóa ngoại phức tạp khiến LLM nhầm cột. Ví dụ thuộc tính attribute_name thuộc attribute, nhưng SQL sai dùng hero_attribute.attribute_name. Bảng 1 có câu hỏi không khớp SQL nên slide chỉ minh họa lỗi tên cột được tác giả giải thích.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PDF V-SQL, mục 4.1 và Hình 1(A).</a:t>
            </a:r>
          </a:p>
          <a:p xmlns:a="http://schemas.openxmlformats.org/drawingml/2006/main">
            <a:r>
              <a:t/>
            </a:r>
          </a:p>
          <a:p xmlns:a="http://schemas.openxmlformats.org/drawingml/2006/main">
            <a:r>
              <a:t>View-based schema gom các thuộc tính liên quan từ nhiều bảng vào một mô tả view D′ để thay lược đồ bảng gốc D trong prompt sinh SQL trung gian. Không thay cấu trúc lưu trữ hoặc xóa khóa ngoại trong cơ sở dữ liệu. Ví dụ giản lược từ v_superhero của bài báo: eye_colour_id nối colour.id, tạo thuộc tính eye_colour. Views chỉ dùng làm hướng dẫn trong prompt, không cần CREATE VIEW thật. Đây là cách prompt/ICL, không huấn luyện lại LLM.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PDF V-SQL, mục 4.2–4.5, Hình 1.</a:t>
            </a:r>
          </a:p>
          <a:p xmlns:a="http://schemas.openxmlformats.org/drawingml/2006/main">
            <a:r>
              <a:t/>
            </a:r>
          </a:p>
          <a:p xmlns:a="http://schemas.openxmlformats.org/drawingml/2006/main">
            <a:r>
              <a:t>Có ba module, nhưng chỉ hai giai đoạn sinh SQL. Module table mapping chuẩn bị view và định nghĩa ánh xạ. Stage 1 dùng câu hỏi và view liên quan để sinh dummy SQL. Stage 2 dùng câu hỏi, dummy SQL, mapping và lược đồ bảng liên quan để dựng SQL cuối. Dummy SQL không thực thi vì kết quả của view có thể phụ thuộc kiểu JOIN dùng khi tạo view. SQL cuối chỉ truy vấn bảng gốc và khôi phục các JOIN cần thiết. Không huấn luyện encoder/decoder riêng, đây là phép so sánh của tác giả với autoencoder.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PDF V-SQL, Bảng 4.</a:t>
            </a:r>
          </a:p>
          <a:p xmlns:a="http://schemas.openxmlformats.org/drawingml/2006/main">
            <a:r>
              <a:t/>
            </a:r>
          </a:p>
          <a:p xmlns:a="http://schemas.openxmlformats.org/drawingml/2006/main">
            <a:r>
              <a:t>Ví dụ giản lược từ Bảng 4. Bảng gốc ghi câu hỏi chỉ có mắt xanh nhưng gold/dummy/final SQL đều có thêm điều kiện tóc Blond. Slide diễn đạt lại câu hỏi theo điều kiện SQL và ghi chú điều chỉnh. Alias ngắn chỉ để dễ đọc. Dummy SQL không cần JOIN trong ví dụ này, còn SQL cuối có hai JOIN vào colour với hai alias. Không khẳng định mọi dummy SQL đều không cần JOIN.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PDF V-SQL, mục 5.1–5.2 và Bảng 3.</a:t>
            </a:r>
          </a:p>
          <a:p xmlns:a="http://schemas.openxmlformats.org/drawingml/2006/main">
            <a:r>
              <a:t/>
            </a:r>
          </a:p>
          <a:p xmlns:a="http://schemas.openxmlformats.org/drawingml/2006/main">
            <a:r>
              <a:t>BIRD mini-dev: 500 cặp câu hỏi–SQL, 11 DB. EX kiểm tra SQL hợp lệ và kết quả thực thi khớp SQL chuẩn. Các mô hình: GPT-4 (gpt-4-32k), GPT-4 Turbo, GPT-3.5 Turbo. temperature=0, top-p=1, max_tokens=800. Không dùng self-consistency hay sửa lại trong phép so sánh. Các số trong bảng là EX tổng (%), theo nguyên bản, không phải thực nghiệm của học viên. V-SQL hơn TA-SQL 2.64 điểm phần trăm trên GPT-4 Turbo và 1.60 điểm trên GPT-3.5 Turbo, thấp hơn 0.17 điểm trên GPT-4. Bảng gốc viết V-SQLG ở hai dòng và GPT-35-turbo, slide thống nhất tên theo phần mô tả.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PDF V-SQL, mục 6–7. services/auto_view.py và run_experiment.py.</a:t>
            </a:r>
          </a:p>
          <a:p xmlns:a="http://schemas.openxmlformats.org/drawingml/2006/main">
            <a:r>
              <a:t/>
            </a:r>
          </a:p>
          <a:p xmlns:a="http://schemas.openxmlformats.org/drawingml/2006/main">
            <a:r>
              <a:t>Đây là điểm chuyển từ trình bày bài gốc sang thực nghiệm của học viên. Bài báo có prompt hỗ trợ tạo view ở phụ lục, nhưng thực nghiệm mô tả view thiết kế thủ công tham khảo JOIN trong ground-truth SQL. Tác giả nhận thấy tạo nhiều view hơn không đảm bảo tốt hơn, đề xuất tự động hóa mapping là hướng tiếp theo. Auto-V-SQL trong đồ án dùng Python với metadata, không dùng LLM để sinh view. Thuật toán nhận diện lookup theo ngưỡng &lt;=4 cột, ghép khóa ngoại trực tiếp. Module tạo view nhận metadata và không nhận câu hỏi/gold 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README.md, artifacts/experiment_results.json, run_experiment.py, adapters/cpa_llm.py, services/evaluator.py.</a:t>
            </a:r>
          </a:p>
          <a:p xmlns:a="http://schemas.openxmlformats.org/drawingml/2006/main">
            <a:r>
              <a:t/>
            </a:r>
          </a:p>
          <a:p xmlns:a="http://schemas.openxmlformats.org/drawingml/2006/main">
            <a:r>
              <a:t>Thực nghiệm học viên chỉ trên Superhero, 52 câu: 14 Simple,26 Moderate,12 Challenging. Ba cấu hình: Direct một giai đoạn với raw DDL, V-SQL sử dụng view viết tay theo bài báo, Auto-V-SQL sử dụng view tự động. Đây là triển khai tham khảo V-SQL, không tái lập đầy đủ mọi thành phần và benchmark của bài gốc. Cùng cấu hình model gemini-3.5-flash-lite qua CPA Proxy, temperature=0, max_tokens=800. Code không truyền top_p. Evaluator hiện so sánh set hàng, bỏ thứ tự và số lần lặp, nên không khẳng định tương đương bộ chấm BIRD chính thức. Kế hoạch có thêm schema-linking baseline nhưng JSON mới có ba cấu hình này.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artifacts/experiment_results.json.</a:t>
            </a:r>
          </a:p>
          <a:p xmlns:a="http://schemas.openxmlformats.org/drawingml/2006/main">
            <a:r>
              <a:t/>
            </a:r>
          </a:p>
          <a:p xmlns:a="http://schemas.openxmlformats.org/drawingml/2006/main">
            <a:r>
              <a:t>Đối chiếu đủ 52 bản ghi. Direct đúng 43/52, view viết tay 44/52, Auto-V-SQL 43/52. Theo Simple/Moderate/Challenging: Direct=13/14,22/26,8/12; viết tay=13/14,24/26,7/12; Auto=13/14,23/26,7/12. EX tổng=82.69,84.62,82.69%. Auto hơn Direct 1 câu ở Moderate và thấp hơn 1 câu ở Challenging. SQL thực thi được: Direct=51/52,view viết tay=52/52,Auto=52/52. Case 772 Direct báo no such table: superhero.superhero, còn cả hai cấu hình view chạy được nhưng vẫn sai tập kết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PDF V-SQL, mục 6–7. services/evaluator.py, services/auto_view.py, artifacts/experiment_results.json.</a:t>
            </a:r>
          </a:p>
          <a:p xmlns:a="http://schemas.openxmlformats.org/drawingml/2006/main">
            <a:r>
              <a:t/>
            </a:r>
          </a:p>
          <a:p xmlns:a="http://schemas.openxmlformats.org/drawingml/2006/main">
            <a:r>
              <a:t>Bài báo góp một cách biểu diễn schema bằng view và framework sinh SQL hai giai đoạn. Thực nghiệm đồ án đã tự động hóa module tạo view nhưng EX tổng chưa tăng so với Direct. Auto hơn Direct 1 câu nhóm Moderate, thua 1 câu nhóm Challenging. Hạn chế: 1 DB và một lần kết quả lưu, mô hình và bộ chấm khác bài gốc. set-based evaluator bỏ thứ tự/đếm lặp. Vì vậy không so sánh trực tiếp điểm 82.69 của đồ án với 45.4/52.8/56.0 của bài báo. Hướng tiếp: chấm ORDER BY và hàng trùng, chạy thêm nhiều DB, đo token và độ trễ.</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7aa0937197d440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b96ae4b4c1e485f" /><Relationship Type="http://schemas.openxmlformats.org/officeDocument/2006/relationships/slideLayout" Target="/ppt/slideLayouts/slideLayout1.xml" Id="R65556de26bb2438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5556de26bb2438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ac639346057411b" /><Relationship Type="http://schemas.openxmlformats.org/officeDocument/2006/relationships/notesSlide" Target="/ppt/notesSlides/notesSlide1.xml" Id="R70048e5f1c684b9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ccae2bb934d44a2" /><Relationship Type="http://schemas.openxmlformats.org/officeDocument/2006/relationships/notesSlide" Target="/ppt/notesSlides/notesSlide2.xml" Id="Rad8c8073d908484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770ac5fb37e461a" /><Relationship Type="http://schemas.openxmlformats.org/officeDocument/2006/relationships/notesSlide" Target="/ppt/notesSlides/notesSlide3.xml" Id="R797f8b75eb434cf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1c60ba2654b4f50" /><Relationship Type="http://schemas.openxmlformats.org/officeDocument/2006/relationships/notesSlide" Target="/ppt/notesSlides/notesSlide4.xml" Id="R5c6fc6e5d68d472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57b441951a942d4" /><Relationship Type="http://schemas.openxmlformats.org/officeDocument/2006/relationships/notesSlide" Target="/ppt/notesSlides/notesSlide5.xml" Id="Rc523553f89794c8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7918c31103945a3" /><Relationship Type="http://schemas.openxmlformats.org/officeDocument/2006/relationships/notesSlide" Target="/ppt/notesSlides/notesSlide6.xml" Id="Rc16ddfeead2d4c0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4ff88547d0244d9" /><Relationship Type="http://schemas.openxmlformats.org/officeDocument/2006/relationships/notesSlide" Target="/ppt/notesSlides/notesSlide7.xml" Id="R56b4bf240e53402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a7a9b8d15974a51" /><Relationship Type="http://schemas.openxmlformats.org/officeDocument/2006/relationships/notesSlide" Target="/ppt/notesSlides/notesSlide8.xml" Id="Rc571f44b8f4b4dc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c9fdf9795e7475f" /><Relationship Type="http://schemas.openxmlformats.org/officeDocument/2006/relationships/chart" Target="/ppt/slides/charts/chart1.xml" Id="Rbd9afe73445d4e5d" /><Relationship Type="http://schemas.openxmlformats.org/officeDocument/2006/relationships/notesSlide" Target="/ppt/notesSlides/notesSlide9.xml" Id="R49bc30cd08aa481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9d187b6619b46a1" /><Relationship Type="http://schemas.openxmlformats.org/officeDocument/2006/relationships/notesSlide" Target="/ppt/notesSlides/notesSlide10.xml" Id="R2b4d3e4598804ed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Direct</c:v>
          </c:tx>
          <c:spPr>
            <a:solidFill xmlns:a="http://schemas.openxmlformats.org/drawingml/2006/main">
              <a:srgbClr val="A6B7C2"/>
            </a:solidFill>
          </c:spPr>
          <c:dLbls>
            <c:dLbl>
              <c:idx val="0"/>
              <c:tx>
                <c:rich>
                  <a:bodyPr xmlns:a="http://schemas.openxmlformats.org/drawingml/2006/main"/>
                  <a:lstStyle xmlns:a="http://schemas.openxmlformats.org/drawingml/2006/main"/>
                  <a:p xmlns:a="http://schemas.openxmlformats.org/drawingml/2006/main">
                    <a:r>
                      <a:rPr sz="1425" b="1">
                        <a:solidFill>
                          <a:srgbClr val="132C3D"/>
                        </a:solidFill>
                        <a:latin typeface="Noto Sans"/>
                        <a:ea typeface="Noto Sans"/>
                        <a:cs typeface="Noto Sans"/>
                      </a:rPr>
                      <a:t>82,69</a:t>
                    </a:r>
                  </a:p>
                </c:rich>
              </c:tx>
              <c:txPr>
                <a:bodyPr xmlns:a="http://schemas.openxmlformats.org/drawingml/2006/main" anchorCtr="1"/>
                <a:lstStyle xmlns:a="http://schemas.openxmlformats.org/drawingml/2006/main"/>
                <a:p xmlns:a="http://schemas.openxmlformats.org/drawingml/2006/main">
                  <a:pPr>
                    <a:defRPr sz="1425" b="1">
                      <a:solidFill>
                        <a:srgbClr val="132C3D"/>
                      </a:solidFill>
                      <a:latin typeface="Noto Sans"/>
                      <a:ea typeface="Noto Sans"/>
                      <a:cs typeface="Noto Sans"/>
                    </a:defRPr>
                  </a:pPr>
                </a:p>
              </c:txPr>
              <c:dLblPos val="outEnd"/>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425" b="1">
                        <a:solidFill>
                          <a:srgbClr val="132C3D"/>
                        </a:solidFill>
                        <a:latin typeface="Noto Sans"/>
                        <a:ea typeface="Noto Sans"/>
                        <a:cs typeface="Noto Sans"/>
                      </a:rPr>
                      <a:t>92,86</a:t>
                    </a:r>
                  </a:p>
                </c:rich>
              </c:tx>
              <c:txPr>
                <a:bodyPr xmlns:a="http://schemas.openxmlformats.org/drawingml/2006/main" anchorCtr="1"/>
                <a:lstStyle xmlns:a="http://schemas.openxmlformats.org/drawingml/2006/main"/>
                <a:p xmlns:a="http://schemas.openxmlformats.org/drawingml/2006/main">
                  <a:pPr>
                    <a:defRPr sz="1425" b="1">
                      <a:solidFill>
                        <a:srgbClr val="132C3D"/>
                      </a:solidFill>
                      <a:latin typeface="Noto Sans"/>
                      <a:ea typeface="Noto Sans"/>
                      <a:cs typeface="Noto Sans"/>
                    </a:defRPr>
                  </a:pPr>
                </a:p>
              </c:txPr>
              <c:dLblPos val="outEnd"/>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425" b="1">
                        <a:solidFill>
                          <a:srgbClr val="132C3D"/>
                        </a:solidFill>
                        <a:latin typeface="Noto Sans"/>
                        <a:ea typeface="Noto Sans"/>
                        <a:cs typeface="Noto Sans"/>
                      </a:rPr>
                      <a:t>84,62</a:t>
                    </a:r>
                  </a:p>
                </c:rich>
              </c:tx>
              <c:txPr>
                <a:bodyPr xmlns:a="http://schemas.openxmlformats.org/drawingml/2006/main" anchorCtr="1"/>
                <a:lstStyle xmlns:a="http://schemas.openxmlformats.org/drawingml/2006/main"/>
                <a:p xmlns:a="http://schemas.openxmlformats.org/drawingml/2006/main">
                  <a:pPr>
                    <a:defRPr sz="1425" b="1">
                      <a:solidFill>
                        <a:srgbClr val="132C3D"/>
                      </a:solidFill>
                      <a:latin typeface="Noto Sans"/>
                      <a:ea typeface="Noto Sans"/>
                      <a:cs typeface="Noto Sans"/>
                    </a:defRPr>
                  </a:pPr>
                </a:p>
              </c:txPr>
              <c:dLblPos val="outEnd"/>
              <c:showLegendKey val="0"/>
              <c:showVal val="1"/>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425" b="1">
                        <a:solidFill>
                          <a:srgbClr val="132C3D"/>
                        </a:solidFill>
                        <a:latin typeface="Noto Sans"/>
                        <a:ea typeface="Noto Sans"/>
                        <a:cs typeface="Noto Sans"/>
                      </a:rPr>
                      <a:t>66,67</a:t>
                    </a:r>
                  </a:p>
                </c:rich>
              </c:tx>
              <c:txPr>
                <a:bodyPr xmlns:a="http://schemas.openxmlformats.org/drawingml/2006/main" anchorCtr="1"/>
                <a:lstStyle xmlns:a="http://schemas.openxmlformats.org/drawingml/2006/main"/>
                <a:p xmlns:a="http://schemas.openxmlformats.org/drawingml/2006/main">
                  <a:pPr>
                    <a:defRPr sz="1425" b="1">
                      <a:solidFill>
                        <a:srgbClr val="132C3D"/>
                      </a:solidFill>
                      <a:latin typeface="Noto Sans"/>
                      <a:ea typeface="Noto Sans"/>
                      <a:cs typeface="Noto Sans"/>
                    </a:defRPr>
                  </a:pPr>
                </a:p>
              </c:txPr>
              <c:dLblPos val="outEnd"/>
              <c:showLegendKey val="0"/>
              <c:showVal val="1"/>
              <c:showCatName val="0"/>
              <c:showSerName val="0"/>
              <c:showPercent val="0"/>
              <c:showBubbleSize val="0"/>
            </c:dLbl>
          </c:dLbls>
          <c:cat>
            <c:strRef>
              <c:f>'Chart Data'!$A$2:$A$5</c:f>
              <c:strCache>
                <c:ptCount val="4"/>
                <c:pt idx="0">
                  <c:v>Tổng (52)</c:v>
                </c:pt>
                <c:pt idx="1">
                  <c:v>Đơn giản (14)</c:v>
                </c:pt>
                <c:pt idx="2">
                  <c:v>Trung bình (26)</c:v>
                </c:pt>
                <c:pt idx="3">
                  <c:v>Khó (12)</c:v>
                </c:pt>
              </c:strCache>
            </c:strRef>
          </c:cat>
          <c:val>
            <c:numRef>
              <c:f>'Chart Data'!$B$2:$B$5</c:f>
              <c:numCache>
                <c:formatCode>0.00</c:formatCode>
                <c:ptCount val="4"/>
                <c:pt idx="0">
                  <c:v>82.69</c:v>
                </c:pt>
                <c:pt idx="1">
                  <c:v>92.86</c:v>
                </c:pt>
                <c:pt idx="2">
                  <c:v>84.62</c:v>
                </c:pt>
                <c:pt idx="3">
                  <c:v>66.67</c:v>
                </c:pt>
              </c:numCache>
            </c:numRef>
          </c:val>
        </c:ser>
        <c:ser>
          <c:idx val="1"/>
          <c:order val="1"/>
          <c:tx>
            <c:v>V-SQL viết tay</c:v>
          </c:tx>
          <c:spPr>
            <a:solidFill xmlns:a="http://schemas.openxmlformats.org/drawingml/2006/main">
              <a:srgbClr val="C18D49"/>
            </a:solidFill>
          </c:spPr>
          <c:dLbls>
            <c:dLbl>
              <c:idx val="0"/>
              <c:tx>
                <c:rich>
                  <a:bodyPr xmlns:a="http://schemas.openxmlformats.org/drawingml/2006/main"/>
                  <a:lstStyle xmlns:a="http://schemas.openxmlformats.org/drawingml/2006/main"/>
                  <a:p xmlns:a="http://schemas.openxmlformats.org/drawingml/2006/main">
                    <a:r>
                      <a:rPr sz="1425" b="1">
                        <a:solidFill>
                          <a:srgbClr val="132C3D"/>
                        </a:solidFill>
                        <a:latin typeface="Noto Sans"/>
                        <a:ea typeface="Noto Sans"/>
                        <a:cs typeface="Noto Sans"/>
                      </a:rPr>
                      <a:t>84,62</a:t>
                    </a:r>
                  </a:p>
                </c:rich>
              </c:tx>
              <c:txPr>
                <a:bodyPr xmlns:a="http://schemas.openxmlformats.org/drawingml/2006/main" anchorCtr="1"/>
                <a:lstStyle xmlns:a="http://schemas.openxmlformats.org/drawingml/2006/main"/>
                <a:p xmlns:a="http://schemas.openxmlformats.org/drawingml/2006/main">
                  <a:pPr>
                    <a:defRPr sz="1425" b="1">
                      <a:solidFill>
                        <a:srgbClr val="132C3D"/>
                      </a:solidFill>
                      <a:latin typeface="Noto Sans"/>
                      <a:ea typeface="Noto Sans"/>
                      <a:cs typeface="Noto Sans"/>
                    </a:defRPr>
                  </a:pPr>
                </a:p>
              </c:txPr>
              <c:dLblPos val="outEnd"/>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425" b="1">
                        <a:solidFill>
                          <a:srgbClr val="132C3D"/>
                        </a:solidFill>
                        <a:latin typeface="Noto Sans"/>
                        <a:ea typeface="Noto Sans"/>
                        <a:cs typeface="Noto Sans"/>
                      </a:rPr>
                      <a:t>92,86</a:t>
                    </a:r>
                  </a:p>
                </c:rich>
              </c:tx>
              <c:txPr>
                <a:bodyPr xmlns:a="http://schemas.openxmlformats.org/drawingml/2006/main" anchorCtr="1"/>
                <a:lstStyle xmlns:a="http://schemas.openxmlformats.org/drawingml/2006/main"/>
                <a:p xmlns:a="http://schemas.openxmlformats.org/drawingml/2006/main">
                  <a:pPr>
                    <a:defRPr sz="1425" b="1">
                      <a:solidFill>
                        <a:srgbClr val="132C3D"/>
                      </a:solidFill>
                      <a:latin typeface="Noto Sans"/>
                      <a:ea typeface="Noto Sans"/>
                      <a:cs typeface="Noto Sans"/>
                    </a:defRPr>
                  </a:pPr>
                </a:p>
              </c:txPr>
              <c:dLblPos val="outEnd"/>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425" b="1">
                        <a:solidFill>
                          <a:srgbClr val="132C3D"/>
                        </a:solidFill>
                        <a:latin typeface="Noto Sans"/>
                        <a:ea typeface="Noto Sans"/>
                        <a:cs typeface="Noto Sans"/>
                      </a:rPr>
                      <a:t>92,31</a:t>
                    </a:r>
                  </a:p>
                </c:rich>
              </c:tx>
              <c:txPr>
                <a:bodyPr xmlns:a="http://schemas.openxmlformats.org/drawingml/2006/main" anchorCtr="1"/>
                <a:lstStyle xmlns:a="http://schemas.openxmlformats.org/drawingml/2006/main"/>
                <a:p xmlns:a="http://schemas.openxmlformats.org/drawingml/2006/main">
                  <a:pPr>
                    <a:defRPr sz="1425" b="1">
                      <a:solidFill>
                        <a:srgbClr val="132C3D"/>
                      </a:solidFill>
                      <a:latin typeface="Noto Sans"/>
                      <a:ea typeface="Noto Sans"/>
                      <a:cs typeface="Noto Sans"/>
                    </a:defRPr>
                  </a:pPr>
                </a:p>
              </c:txPr>
              <c:dLblPos val="outEnd"/>
              <c:showLegendKey val="0"/>
              <c:showVal val="1"/>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425" b="1">
                        <a:solidFill>
                          <a:srgbClr val="132C3D"/>
                        </a:solidFill>
                        <a:latin typeface="Noto Sans"/>
                        <a:ea typeface="Noto Sans"/>
                        <a:cs typeface="Noto Sans"/>
                      </a:rPr>
                      <a:t>58,33</a:t>
                    </a:r>
                  </a:p>
                </c:rich>
              </c:tx>
              <c:txPr>
                <a:bodyPr xmlns:a="http://schemas.openxmlformats.org/drawingml/2006/main" anchorCtr="1"/>
                <a:lstStyle xmlns:a="http://schemas.openxmlformats.org/drawingml/2006/main"/>
                <a:p xmlns:a="http://schemas.openxmlformats.org/drawingml/2006/main">
                  <a:pPr>
                    <a:defRPr sz="1425" b="1">
                      <a:solidFill>
                        <a:srgbClr val="132C3D"/>
                      </a:solidFill>
                      <a:latin typeface="Noto Sans"/>
                      <a:ea typeface="Noto Sans"/>
                      <a:cs typeface="Noto Sans"/>
                    </a:defRPr>
                  </a:pPr>
                </a:p>
              </c:txPr>
              <c:dLblPos val="outEnd"/>
              <c:showLegendKey val="0"/>
              <c:showVal val="1"/>
              <c:showCatName val="0"/>
              <c:showSerName val="0"/>
              <c:showPercent val="0"/>
              <c:showBubbleSize val="0"/>
            </c:dLbl>
          </c:dLbls>
          <c:cat>
            <c:strRef>
              <c:f>'Chart Data'!$C$2:$C$5</c:f>
              <c:strCache>
                <c:ptCount val="4"/>
                <c:pt idx="0">
                  <c:v>Tổng (52)</c:v>
                </c:pt>
                <c:pt idx="1">
                  <c:v>Đơn giản (14)</c:v>
                </c:pt>
                <c:pt idx="2">
                  <c:v>Trung bình (26)</c:v>
                </c:pt>
                <c:pt idx="3">
                  <c:v>Khó (12)</c:v>
                </c:pt>
              </c:strCache>
            </c:strRef>
          </c:cat>
          <c:val>
            <c:numRef>
              <c:f>'Chart Data'!$D$2:$D$5</c:f>
              <c:numCache>
                <c:formatCode>0.00</c:formatCode>
                <c:ptCount val="4"/>
                <c:pt idx="0">
                  <c:v>84.62</c:v>
                </c:pt>
                <c:pt idx="1">
                  <c:v>92.86</c:v>
                </c:pt>
                <c:pt idx="2">
                  <c:v>92.31</c:v>
                </c:pt>
                <c:pt idx="3">
                  <c:v>58.33</c:v>
                </c:pt>
              </c:numCache>
            </c:numRef>
          </c:val>
        </c:ser>
        <c:ser>
          <c:idx val="2"/>
          <c:order val="2"/>
          <c:tx>
            <c:v>Auto-V-SQL</c:v>
          </c:tx>
          <c:spPr>
            <a:solidFill xmlns:a="http://schemas.openxmlformats.org/drawingml/2006/main">
              <a:srgbClr val="007E80"/>
            </a:solidFill>
          </c:spPr>
          <c:dLbls>
            <c:dLbl>
              <c:idx val="0"/>
              <c:tx>
                <c:rich>
                  <a:bodyPr xmlns:a="http://schemas.openxmlformats.org/drawingml/2006/main"/>
                  <a:lstStyle xmlns:a="http://schemas.openxmlformats.org/drawingml/2006/main"/>
                  <a:p xmlns:a="http://schemas.openxmlformats.org/drawingml/2006/main">
                    <a:r>
                      <a:rPr sz="1425" b="1">
                        <a:solidFill>
                          <a:srgbClr val="132C3D"/>
                        </a:solidFill>
                        <a:latin typeface="Noto Sans"/>
                        <a:ea typeface="Noto Sans"/>
                        <a:cs typeface="Noto Sans"/>
                      </a:rPr>
                      <a:t>82,69</a:t>
                    </a:r>
                  </a:p>
                </c:rich>
              </c:tx>
              <c:txPr>
                <a:bodyPr xmlns:a="http://schemas.openxmlformats.org/drawingml/2006/main" anchorCtr="1"/>
                <a:lstStyle xmlns:a="http://schemas.openxmlformats.org/drawingml/2006/main"/>
                <a:p xmlns:a="http://schemas.openxmlformats.org/drawingml/2006/main">
                  <a:pPr>
                    <a:defRPr sz="1425" b="1">
                      <a:solidFill>
                        <a:srgbClr val="132C3D"/>
                      </a:solidFill>
                      <a:latin typeface="Noto Sans"/>
                      <a:ea typeface="Noto Sans"/>
                      <a:cs typeface="Noto Sans"/>
                    </a:defRPr>
                  </a:pPr>
                </a:p>
              </c:txPr>
              <c:dLblPos val="outEnd"/>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425" b="1">
                        <a:solidFill>
                          <a:srgbClr val="132C3D"/>
                        </a:solidFill>
                        <a:latin typeface="Noto Sans"/>
                        <a:ea typeface="Noto Sans"/>
                        <a:cs typeface="Noto Sans"/>
                      </a:rPr>
                      <a:t>92,86</a:t>
                    </a:r>
                  </a:p>
                </c:rich>
              </c:tx>
              <c:txPr>
                <a:bodyPr xmlns:a="http://schemas.openxmlformats.org/drawingml/2006/main" anchorCtr="1"/>
                <a:lstStyle xmlns:a="http://schemas.openxmlformats.org/drawingml/2006/main"/>
                <a:p xmlns:a="http://schemas.openxmlformats.org/drawingml/2006/main">
                  <a:pPr>
                    <a:defRPr sz="1425" b="1">
                      <a:solidFill>
                        <a:srgbClr val="132C3D"/>
                      </a:solidFill>
                      <a:latin typeface="Noto Sans"/>
                      <a:ea typeface="Noto Sans"/>
                      <a:cs typeface="Noto Sans"/>
                    </a:defRPr>
                  </a:pPr>
                </a:p>
              </c:txPr>
              <c:dLblPos val="outEnd"/>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425" b="1">
                        <a:solidFill>
                          <a:srgbClr val="132C3D"/>
                        </a:solidFill>
                        <a:latin typeface="Noto Sans"/>
                        <a:ea typeface="Noto Sans"/>
                        <a:cs typeface="Noto Sans"/>
                      </a:rPr>
                      <a:t>88,46</a:t>
                    </a:r>
                  </a:p>
                </c:rich>
              </c:tx>
              <c:txPr>
                <a:bodyPr xmlns:a="http://schemas.openxmlformats.org/drawingml/2006/main" anchorCtr="1"/>
                <a:lstStyle xmlns:a="http://schemas.openxmlformats.org/drawingml/2006/main"/>
                <a:p xmlns:a="http://schemas.openxmlformats.org/drawingml/2006/main">
                  <a:pPr>
                    <a:defRPr sz="1425" b="1">
                      <a:solidFill>
                        <a:srgbClr val="132C3D"/>
                      </a:solidFill>
                      <a:latin typeface="Noto Sans"/>
                      <a:ea typeface="Noto Sans"/>
                      <a:cs typeface="Noto Sans"/>
                    </a:defRPr>
                  </a:pPr>
                </a:p>
              </c:txPr>
              <c:dLblPos val="outEnd"/>
              <c:showLegendKey val="0"/>
              <c:showVal val="1"/>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425" b="1">
                        <a:solidFill>
                          <a:srgbClr val="132C3D"/>
                        </a:solidFill>
                        <a:latin typeface="Noto Sans"/>
                        <a:ea typeface="Noto Sans"/>
                        <a:cs typeface="Noto Sans"/>
                      </a:rPr>
                      <a:t>58,33</a:t>
                    </a:r>
                  </a:p>
                </c:rich>
              </c:tx>
              <c:txPr>
                <a:bodyPr xmlns:a="http://schemas.openxmlformats.org/drawingml/2006/main" anchorCtr="1"/>
                <a:lstStyle xmlns:a="http://schemas.openxmlformats.org/drawingml/2006/main"/>
                <a:p xmlns:a="http://schemas.openxmlformats.org/drawingml/2006/main">
                  <a:pPr>
                    <a:defRPr sz="1425" b="1">
                      <a:solidFill>
                        <a:srgbClr val="132C3D"/>
                      </a:solidFill>
                      <a:latin typeface="Noto Sans"/>
                      <a:ea typeface="Noto Sans"/>
                      <a:cs typeface="Noto Sans"/>
                    </a:defRPr>
                  </a:pPr>
                </a:p>
              </c:txPr>
              <c:dLblPos val="outEnd"/>
              <c:showLegendKey val="0"/>
              <c:showVal val="1"/>
              <c:showCatName val="0"/>
              <c:showSerName val="0"/>
              <c:showPercent val="0"/>
              <c:showBubbleSize val="0"/>
            </c:dLbl>
          </c:dLbls>
          <c:cat>
            <c:strRef>
              <c:f>'Chart Data'!$E$2:$E$5</c:f>
              <c:strCache>
                <c:ptCount val="4"/>
                <c:pt idx="0">
                  <c:v>Tổng (52)</c:v>
                </c:pt>
                <c:pt idx="1">
                  <c:v>Đơn giản (14)</c:v>
                </c:pt>
                <c:pt idx="2">
                  <c:v>Trung bình (26)</c:v>
                </c:pt>
                <c:pt idx="3">
                  <c:v>Khó (12)</c:v>
                </c:pt>
              </c:strCache>
            </c:strRef>
          </c:cat>
          <c:val>
            <c:numRef>
              <c:f>'Chart Data'!$F$2:$F$5</c:f>
              <c:numCache>
                <c:formatCode>0.00</c:formatCode>
                <c:ptCount val="4"/>
                <c:pt idx="0">
                  <c:v>82.69</c:v>
                </c:pt>
                <c:pt idx="1">
                  <c:v>92.86</c:v>
                </c:pt>
                <c:pt idx="2">
                  <c:v>88.46</c:v>
                </c:pt>
                <c:pt idx="3">
                  <c:v>58.33</c:v>
                </c:pt>
              </c:numCache>
            </c:numRef>
          </c:val>
        </c:ser>
        <c:dLbls>
          <c:txPr>
            <a:bodyPr xmlns:a="http://schemas.openxmlformats.org/drawingml/2006/main" anchorCtr="1"/>
            <a:lstStyle xmlns:a="http://schemas.openxmlformats.org/drawingml/2006/main"/>
            <a:p xmlns:a="http://schemas.openxmlformats.org/drawingml/2006/main">
              <a:pPr>
                <a:defRPr sz="1425" b="1">
                  <a:solidFill>
                    <a:srgbClr val="132C3D"/>
                  </a:solidFill>
                  <a:latin typeface="Noto Sans"/>
                  <a:ea typeface="Noto Sans"/>
                  <a:cs typeface="Noto Sans"/>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ED5D8"/>
            </a:solidFill>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Noto Sans"/>
                <a:ea typeface="Noto Sans"/>
                <a:cs typeface="Noto Sans"/>
              </a:defRPr>
            </a:pPr>
          </a:p>
        </c:txPr>
        <c:crossAx val="48672768"/>
      </c:catAx>
      <c:valAx>
        <c:axId val="48672768"/>
        <c:scaling>
          <c:orientation val="minMax"/>
          <c:max val="100"/>
          <c:min val="0"/>
        </c:scaling>
        <c:delete val="0"/>
        <c:axPos val="l"/>
        <c:majorGridlines>
          <c:spPr>
            <a:ln xmlns:a="http://schemas.openxmlformats.org/drawingml/2006/main" w="9525">
              <a:solidFill>
                <a:srgbClr val="DDE3E3"/>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Noto Sans"/>
                <a:ea typeface="Noto Sans"/>
                <a:cs typeface="Noto Sans"/>
              </a:defRPr>
            </a:pPr>
          </a:p>
        </c:txPr>
        <c:crossAx val="48650112"/>
        <c:crossBetween val="between"/>
        <c:majorUnit val="25"/>
      </c:valAx>
      <c:spPr>
        <a:solidFill xmlns:a="http://schemas.openxmlformats.org/drawingml/2006/main">
          <a:srgbClr val="F7F7F2"/>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latin typeface="Noto Sans"/>
              <a:ea typeface="Noto Sans"/>
              <a:cs typeface="Noto Sans"/>
            </a:defRPr>
          </a:pPr>
        </a:p>
      </c:txPr>
    </c:legend>
    <c:plotVisOnly val="1"/>
  </c:chart>
  <c:spPr>
    <a:solidFill xmlns:a="http://schemas.openxmlformats.org/drawingml/2006/main">
      <a:srgbClr val="F7F7F2"/>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32C3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F9CE08A-B1D4-4AE5-A397-4D0DECB09F10}"/>
              </a:ext>
            </a:extLst>
          </p:cNvPr>
          <p:cNvSpPr>
            <a:spLocks xmlns:a="http://schemas.openxmlformats.org/drawingml/2006/main" noGrp="1"/>
          </p:cNvSpPr>
          <p:nvPr/>
        </p:nvSpPr>
        <p:spPr>
          <a:xfrm xmlns:a="http://schemas.openxmlformats.org/drawingml/2006/main">
            <a:off x="685800" y="1066800"/>
            <a:ext cx="108204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450" b="1">
                <a:solidFill>
                  <a:srgbClr val="FFFFFF"/>
                </a:solidFill>
                <a:latin typeface="Noto Sans"/>
                <a:ea typeface="Noto Sans"/>
                <a:cs typeface="Noto Sans"/>
              </a:defRPr>
            </a:pPr>
            <a:r>
              <a:rPr sz="6450" b="1">
                <a:solidFill>
                  <a:srgbClr val="FFFFFF"/>
                </a:solidFill>
                <a:latin typeface="Noto Sans"/>
                <a:ea typeface="Noto Sans"/>
                <a:cs typeface="Noto Sans"/>
              </a:rPr>
              <a:t>V-SQL</a:t>
            </a:r>
          </a:p>
        </p:txBody>
      </p:sp>
      <p:sp>
        <p:nvSpPr>
          <p:cNvPr id="2" name="">
            <a:extLst xmlns:a="http://schemas.openxmlformats.org/drawingml/2006/main">
              <a:ext uri="{FF2B5EF4-FFF2-40B4-BE49-F238E27FC236}">
                <a16:creationId xmlns:a16="http://schemas.microsoft.com/office/drawing/2014/main" id="{ECC36F43-AAA5-4A37-B271-6245324EAFDC}"/>
              </a:ext>
            </a:extLst>
          </p:cNvPr>
          <p:cNvSpPr>
            <a:spLocks xmlns:a="http://schemas.openxmlformats.org/drawingml/2006/main" noGrp="1"/>
          </p:cNvSpPr>
          <p:nvPr/>
        </p:nvSpPr>
        <p:spPr>
          <a:xfrm xmlns:a="http://schemas.openxmlformats.org/drawingml/2006/main">
            <a:off x="10763250" y="628650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8DADB"/>
                </a:solidFill>
                <a:latin typeface="Noto Sans"/>
                <a:ea typeface="Noto Sans"/>
                <a:cs typeface="Noto Sans"/>
              </a:defRPr>
            </a:pPr>
            <a:r>
              <a:rPr sz="1350" b="0">
                <a:solidFill>
                  <a:srgbClr val="B8DADB"/>
                </a:solidFill>
                <a:latin typeface="Noto Sans"/>
                <a:ea typeface="Noto Sans"/>
                <a:cs typeface="Noto Sans"/>
              </a:rPr>
              <a:t>1 / 10</a:t>
            </a:r>
          </a:p>
        </p:txBody>
      </p:sp>
      <p:sp>
        <p:nvSpPr>
          <p:cNvPr id="3" name="">
            <a:extLst xmlns:a="http://schemas.openxmlformats.org/drawingml/2006/main">
              <a:ext uri="{FF2B5EF4-FFF2-40B4-BE49-F238E27FC236}">
                <a16:creationId xmlns:a16="http://schemas.microsoft.com/office/drawing/2014/main" id="{3C3C9DF1-318A-43E4-A0EF-08765BFFDA82}"/>
              </a:ext>
            </a:extLst>
          </p:cNvPr>
          <p:cNvSpPr>
            <a:spLocks xmlns:a="http://schemas.openxmlformats.org/drawingml/2006/main" noGrp="1"/>
          </p:cNvSpPr>
          <p:nvPr/>
        </p:nvSpPr>
        <p:spPr>
          <a:xfrm xmlns:a="http://schemas.openxmlformats.org/drawingml/2006/main">
            <a:off x="685800" y="2667000"/>
            <a:ext cx="108204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0">
                <a:solidFill>
                  <a:srgbClr val="FFFFFF"/>
                </a:solidFill>
                <a:latin typeface="Noto Sans"/>
                <a:ea typeface="Noto Sans"/>
                <a:cs typeface="Noto Sans"/>
              </a:defRPr>
            </a:pPr>
            <a:r>
              <a:rPr sz="3375" b="0">
                <a:solidFill>
                  <a:srgbClr val="FFFFFF"/>
                </a:solidFill>
                <a:latin typeface="Noto Sans"/>
                <a:ea typeface="Noto Sans"/>
                <a:cs typeface="Noto Sans"/>
              </a:rPr>
              <a:t>A View-based Two-stage</a:t>
            </a:r>
          </a:p>
          <a:p xmlns:a="http://schemas.openxmlformats.org/drawingml/2006/main">
            <a:pPr>
              <a:defRPr sz="3375" b="0">
                <a:solidFill>
                  <a:srgbClr val="FFFFFF"/>
                </a:solidFill>
                <a:latin typeface="Noto Sans"/>
                <a:ea typeface="Noto Sans"/>
                <a:cs typeface="Noto Sans"/>
              </a:defRPr>
            </a:pPr>
            <a:r>
              <a:rPr sz="3375" b="0">
                <a:solidFill>
                  <a:srgbClr val="FFFFFF"/>
                </a:solidFill>
                <a:latin typeface="Noto Sans"/>
                <a:ea typeface="Noto Sans"/>
                <a:cs typeface="Noto Sans"/>
              </a:rPr>
              <a:t>Text-to-SQL Framework</a:t>
            </a:r>
          </a:p>
        </p:txBody>
      </p:sp>
      <p:sp>
        <p:nvSpPr>
          <p:cNvPr id="4" name="">
            <a:extLst xmlns:a="http://schemas.openxmlformats.org/drawingml/2006/main">
              <a:ext uri="{FF2B5EF4-FFF2-40B4-BE49-F238E27FC236}">
                <a16:creationId xmlns:a16="http://schemas.microsoft.com/office/drawing/2014/main" id="{E6EDBA32-9B07-4A61-B63C-30A92ACFD0C8}"/>
              </a:ext>
            </a:extLst>
          </p:cNvPr>
          <p:cNvSpPr>
            <a:spLocks xmlns:a="http://schemas.openxmlformats.org/drawingml/2006/main" noGrp="1"/>
          </p:cNvSpPr>
          <p:nvPr/>
        </p:nvSpPr>
        <p:spPr>
          <a:xfrm xmlns:a="http://schemas.openxmlformats.org/drawingml/2006/main">
            <a:off x="685800" y="4333875"/>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B8DADB"/>
                </a:solidFill>
                <a:latin typeface="Noto Sans"/>
                <a:ea typeface="Noto Sans"/>
                <a:cs typeface="Noto Sans"/>
              </a:defRPr>
            </a:pPr>
            <a:r>
              <a:rPr sz="2175" b="0">
                <a:solidFill>
                  <a:srgbClr val="B8DADB"/>
                </a:solidFill>
                <a:latin typeface="Noto Sans"/>
                <a:ea typeface="Noto Sans"/>
                <a:cs typeface="Noto Sans"/>
              </a:rPr>
              <a:t>Bài báo của You và cộng sự (2024)</a:t>
            </a:r>
          </a:p>
          <a:p xmlns:a="http://schemas.openxmlformats.org/drawingml/2006/main">
            <a:pPr>
              <a:defRPr sz="2175" b="0">
                <a:solidFill>
                  <a:srgbClr val="B8DADB"/>
                </a:solidFill>
                <a:latin typeface="Noto Sans"/>
                <a:ea typeface="Noto Sans"/>
                <a:cs typeface="Noto Sans"/>
              </a:defRPr>
            </a:pPr>
            <a:r>
              <a:rPr sz="2175" b="0">
                <a:solidFill>
                  <a:srgbClr val="B8DADB"/>
                </a:solidFill>
                <a:latin typeface="Noto Sans"/>
                <a:ea typeface="Noto Sans"/>
                <a:cs typeface="Noto Sans"/>
              </a:rPr>
              <a:t>và thực nghiệm mở rộng Auto-V-SQL</a:t>
            </a:r>
          </a:p>
        </p:txBody>
      </p:sp>
      <p:sp>
        <p:nvSpPr>
          <p:cNvPr id="5" name="">
            <a:extLst xmlns:a="http://schemas.openxmlformats.org/drawingml/2006/main">
              <a:ext uri="{FF2B5EF4-FFF2-40B4-BE49-F238E27FC236}">
                <a16:creationId xmlns:a16="http://schemas.microsoft.com/office/drawing/2014/main" id="{E728EF90-AE19-4FED-A0D4-4E7E942E5CA3}"/>
              </a:ext>
            </a:extLst>
          </p:cNvPr>
          <p:cNvSpPr>
            <a:spLocks xmlns:a="http://schemas.openxmlformats.org/drawingml/2006/main" noGrp="1"/>
          </p:cNvSpPr>
          <p:nvPr/>
        </p:nvSpPr>
        <p:spPr>
          <a:xfrm xmlns:a="http://schemas.openxmlformats.org/drawingml/2006/main">
            <a:off x="685800" y="5676900"/>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B8DADB"/>
                </a:solidFill>
                <a:latin typeface="Noto Sans"/>
                <a:ea typeface="Noto Sans"/>
                <a:cs typeface="Noto Sans"/>
              </a:defRPr>
            </a:pPr>
            <a:r>
              <a:rPr sz="1875" b="0">
                <a:solidFill>
                  <a:srgbClr val="B8DADB"/>
                </a:solidFill>
                <a:latin typeface="Noto Sans"/>
                <a:ea typeface="Noto Sans"/>
                <a:cs typeface="Noto Sans"/>
              </a:rPr>
              <a:t>Trần Quốc Hùng · Hệ cơ sở dữ liệu tiên tiến</a:t>
            </a:r>
          </a:p>
        </p:txBody>
      </p:sp>
    </p:spTree>
    <p:extLst>
      <p:ext uri="{BB962C8B-B14F-4D97-AF65-F5344CB8AC3E}">
        <p14:creationId xmlns:p14="http://schemas.microsoft.com/office/powerpoint/2010/main" val="1396543881"/>
      </p:ext>
    </p:extLst>
  </p:cSld>
</p:sld>
</file>

<file path=ppt/slides/slide2.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A5A25D3-F3C7-4FF5-8BF0-6AD574955D16}"/>
              </a:ext>
            </a:extLst>
          </p:cNvPr>
          <p:cNvSpPr>
            <a:spLocks xmlns:a="http://schemas.openxmlformats.org/drawingml/2006/main" noGrp="1"/>
          </p:cNvSpPr>
          <p:nvPr/>
        </p:nvSpPr>
        <p:spPr>
          <a:xfrm xmlns:a="http://schemas.openxmlformats.org/drawingml/2006/main">
            <a:off x="685800" y="45720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32C3D"/>
                </a:solidFill>
                <a:latin typeface="Noto Sans"/>
                <a:ea typeface="Noto Sans"/>
                <a:cs typeface="Noto Sans"/>
              </a:defRPr>
            </a:pPr>
            <a:r>
              <a:rPr sz="3300" b="1">
                <a:solidFill>
                  <a:srgbClr val="132C3D"/>
                </a:solidFill>
                <a:latin typeface="Noto Sans"/>
                <a:ea typeface="Noto Sans"/>
                <a:cs typeface="Noto Sans"/>
              </a:rPr>
              <a:t>Bài báo giải quyết lỗi hiểu sai lược đồ</a:t>
            </a:r>
          </a:p>
        </p:txBody>
      </p:sp>
      <p:sp>
        <p:nvSpPr>
          <p:cNvPr id="2" name="">
            <a:extLst xmlns:a="http://schemas.openxmlformats.org/drawingml/2006/main">
              <a:ext uri="{FF2B5EF4-FFF2-40B4-BE49-F238E27FC236}">
                <a16:creationId xmlns:a16="http://schemas.microsoft.com/office/drawing/2014/main" id="{4AFCF79C-681A-432A-ABD7-80FB0B1B2203}"/>
              </a:ext>
            </a:extLst>
          </p:cNvPr>
          <p:cNvSpPr>
            <a:spLocks xmlns:a="http://schemas.openxmlformats.org/drawingml/2006/main" noGrp="1"/>
          </p:cNvSpPr>
          <p:nvPr/>
        </p:nvSpPr>
        <p:spPr>
          <a:xfrm xmlns:a="http://schemas.openxmlformats.org/drawingml/2006/main">
            <a:off x="10763250" y="628650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775"/>
                </a:solidFill>
                <a:latin typeface="Noto Sans"/>
                <a:ea typeface="Noto Sans"/>
                <a:cs typeface="Noto Sans"/>
              </a:defRPr>
            </a:pPr>
            <a:r>
              <a:rPr sz="1350" b="0">
                <a:solidFill>
                  <a:srgbClr val="526775"/>
                </a:solidFill>
                <a:latin typeface="Noto Sans"/>
                <a:ea typeface="Noto Sans"/>
                <a:cs typeface="Noto Sans"/>
              </a:rPr>
              <a:t>2 / 10</a:t>
            </a:r>
          </a:p>
        </p:txBody>
      </p:sp>
      <p:sp>
        <p:nvSpPr>
          <p:cNvPr id="3" name="">
            <a:extLst xmlns:a="http://schemas.openxmlformats.org/drawingml/2006/main">
              <a:ext uri="{FF2B5EF4-FFF2-40B4-BE49-F238E27FC236}">
                <a16:creationId xmlns:a16="http://schemas.microsoft.com/office/drawing/2014/main" id="{81A35D3A-E316-4611-8A2E-9ABA2A3405F9}"/>
              </a:ext>
            </a:extLst>
          </p:cNvPr>
          <p:cNvSpPr>
            <a:spLocks xmlns:a="http://schemas.openxmlformats.org/drawingml/2006/main" noGrp="1"/>
          </p:cNvSpPr>
          <p:nvPr/>
        </p:nvSpPr>
        <p:spPr>
          <a:xfrm xmlns:a="http://schemas.openxmlformats.org/drawingml/2006/main">
            <a:off x="685800" y="167640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E80"/>
                </a:solidFill>
                <a:latin typeface="Noto Sans"/>
                <a:ea typeface="Noto Sans"/>
                <a:cs typeface="Noto Sans"/>
              </a:defRPr>
            </a:pPr>
            <a:r>
              <a:rPr sz="2250" b="1">
                <a:solidFill>
                  <a:srgbClr val="007E80"/>
                </a:solidFill>
                <a:latin typeface="Noto Sans"/>
                <a:ea typeface="Noto Sans"/>
                <a:cs typeface="Noto Sans"/>
              </a:rPr>
              <a:t>Text-to-SQL</a:t>
            </a:r>
          </a:p>
        </p:txBody>
      </p:sp>
      <p:sp>
        <p:nvSpPr>
          <p:cNvPr id="4" name="">
            <a:extLst xmlns:a="http://schemas.openxmlformats.org/drawingml/2006/main">
              <a:ext uri="{FF2B5EF4-FFF2-40B4-BE49-F238E27FC236}">
                <a16:creationId xmlns:a16="http://schemas.microsoft.com/office/drawing/2014/main" id="{27C33251-B7B4-42BE-9A43-485B8C90E549}"/>
              </a:ext>
            </a:extLst>
          </p:cNvPr>
          <p:cNvSpPr>
            <a:spLocks xmlns:a="http://schemas.openxmlformats.org/drawingml/2006/main" noGrp="1"/>
          </p:cNvSpPr>
          <p:nvPr/>
        </p:nvSpPr>
        <p:spPr>
          <a:xfrm xmlns:a="http://schemas.openxmlformats.org/drawingml/2006/main">
            <a:off x="685800" y="22288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32C3D"/>
                </a:solidFill>
                <a:latin typeface="Noto Sans"/>
                <a:ea typeface="Noto Sans"/>
                <a:cs typeface="Noto Sans"/>
              </a:defRPr>
            </a:pPr>
            <a:r>
              <a:rPr sz="2325" b="0">
                <a:solidFill>
                  <a:srgbClr val="132C3D"/>
                </a:solidFill>
                <a:latin typeface="Noto Sans"/>
                <a:ea typeface="Noto Sans"/>
                <a:cs typeface="Noto Sans"/>
              </a:rPr>
              <a:t>Đầu vào: câu hỏi tự nhiên và lược đồ cơ sở dữ liệu.</a:t>
            </a:r>
          </a:p>
          <a:p xmlns:a="http://schemas.openxmlformats.org/drawingml/2006/main">
            <a:pPr>
              <a:defRPr sz="2325" b="0">
                <a:solidFill>
                  <a:srgbClr val="132C3D"/>
                </a:solidFill>
                <a:latin typeface="Noto Sans"/>
                <a:ea typeface="Noto Sans"/>
                <a:cs typeface="Noto Sans"/>
              </a:defRPr>
            </a:pPr>
            <a:r>
              <a:rPr sz="2325" b="0">
                <a:solidFill>
                  <a:srgbClr val="132C3D"/>
                </a:solidFill>
                <a:latin typeface="Noto Sans"/>
                <a:ea typeface="Noto Sans"/>
                <a:cs typeface="Noto Sans"/>
              </a:rPr>
              <a:t>Đầu ra: SQL chạy được và trả về kết quả đúng.</a:t>
            </a:r>
          </a:p>
        </p:txBody>
      </p:sp>
      <p:sp>
        <p:nvSpPr>
          <p:cNvPr id="5" name="">
            <a:extLst xmlns:a="http://schemas.openxmlformats.org/drawingml/2006/main">
              <a:ext uri="{FF2B5EF4-FFF2-40B4-BE49-F238E27FC236}">
                <a16:creationId xmlns:a16="http://schemas.microsoft.com/office/drawing/2014/main" id="{6130A920-25C4-4674-94F1-DEB727B6C274}"/>
              </a:ext>
            </a:extLst>
          </p:cNvPr>
          <p:cNvSpPr>
            <a:spLocks xmlns:a="http://schemas.openxmlformats.org/drawingml/2006/main" noGrp="1"/>
          </p:cNvSpPr>
          <p:nvPr/>
        </p:nvSpPr>
        <p:spPr>
          <a:xfrm xmlns:a="http://schemas.openxmlformats.org/drawingml/2006/main">
            <a:off x="685800" y="3609975"/>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E80"/>
                </a:solidFill>
                <a:latin typeface="Noto Sans"/>
                <a:ea typeface="Noto Sans"/>
                <a:cs typeface="Noto Sans"/>
              </a:defRPr>
            </a:pPr>
            <a:r>
              <a:rPr sz="2250" b="1">
                <a:solidFill>
                  <a:srgbClr val="007E80"/>
                </a:solidFill>
                <a:latin typeface="Noto Sans"/>
                <a:ea typeface="Noto Sans"/>
                <a:cs typeface="Noto Sans"/>
              </a:rPr>
              <a:t>Khó khăn tác giả nhắm tới</a:t>
            </a:r>
          </a:p>
        </p:txBody>
      </p:sp>
      <p:sp>
        <p:nvSpPr>
          <p:cNvPr id="6" name="">
            <a:extLst xmlns:a="http://schemas.openxmlformats.org/drawingml/2006/main">
              <a:ext uri="{FF2B5EF4-FFF2-40B4-BE49-F238E27FC236}">
                <a16:creationId xmlns:a16="http://schemas.microsoft.com/office/drawing/2014/main" id="{3D3AA600-1C8B-4B44-8365-8F7A3F894C5E}"/>
              </a:ext>
            </a:extLst>
          </p:cNvPr>
          <p:cNvSpPr>
            <a:spLocks xmlns:a="http://schemas.openxmlformats.org/drawingml/2006/main" noGrp="1"/>
          </p:cNvSpPr>
          <p:nvPr/>
        </p:nvSpPr>
        <p:spPr>
          <a:xfrm xmlns:a="http://schemas.openxmlformats.org/drawingml/2006/main">
            <a:off x="685800" y="41433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32C3D"/>
                </a:solidFill>
                <a:latin typeface="Noto Sans"/>
                <a:ea typeface="Noto Sans"/>
                <a:cs typeface="Noto Sans"/>
              </a:defRPr>
            </a:pPr>
            <a:r>
              <a:rPr sz="2325" b="0">
                <a:solidFill>
                  <a:srgbClr val="132C3D"/>
                </a:solidFill>
                <a:latin typeface="Noto Sans"/>
                <a:ea typeface="Noto Sans"/>
                <a:cs typeface="Noto Sans"/>
              </a:rPr>
              <a:t>Nhiều bảng nối qua khóa ngoại khiến LLM nhầm bảng, cột</a:t>
            </a:r>
          </a:p>
          <a:p xmlns:a="http://schemas.openxmlformats.org/drawingml/2006/main">
            <a:pPr>
              <a:defRPr sz="2325" b="0">
                <a:solidFill>
                  <a:srgbClr val="132C3D"/>
                </a:solidFill>
                <a:latin typeface="Noto Sans"/>
                <a:ea typeface="Noto Sans"/>
                <a:cs typeface="Noto Sans"/>
              </a:defRPr>
            </a:pPr>
            <a:r>
              <a:rPr sz="2325" b="0">
                <a:solidFill>
                  <a:srgbClr val="132C3D"/>
                </a:solidFill>
                <a:latin typeface="Noto Sans"/>
                <a:ea typeface="Noto Sans"/>
                <a:cs typeface="Noto Sans"/>
              </a:rPr>
              <a:t>hoặc điều kiện JOIN khi sinh SQL.</a:t>
            </a:r>
          </a:p>
        </p:txBody>
      </p:sp>
      <p:sp>
        <p:nvSpPr>
          <p:cNvPr id="7" name="">
            <a:extLst xmlns:a="http://schemas.openxmlformats.org/drawingml/2006/main">
              <a:ext uri="{FF2B5EF4-FFF2-40B4-BE49-F238E27FC236}">
                <a16:creationId xmlns:a16="http://schemas.microsoft.com/office/drawing/2014/main" id="{5D0F3FF0-DD11-475C-988B-F1BC2623B719}"/>
              </a:ext>
            </a:extLst>
          </p:cNvPr>
          <p:cNvSpPr>
            <a:spLocks xmlns:a="http://schemas.openxmlformats.org/drawingml/2006/main" noGrp="1"/>
          </p:cNvSpPr>
          <p:nvPr/>
        </p:nvSpPr>
        <p:spPr>
          <a:xfrm xmlns:a="http://schemas.openxmlformats.org/drawingml/2006/main">
            <a:off x="685800" y="554355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26775"/>
                </a:solidFill>
                <a:latin typeface="Noto Sans"/>
                <a:ea typeface="Noto Sans"/>
                <a:cs typeface="Noto Sans"/>
              </a:defRPr>
            </a:pPr>
            <a:r>
              <a:rPr sz="1950" b="0">
                <a:solidFill>
                  <a:srgbClr val="526775"/>
                </a:solidFill>
                <a:latin typeface="Noto Sans"/>
                <a:ea typeface="Noto Sans"/>
                <a:cs typeface="Noto Sans"/>
              </a:rPr>
              <a:t>Ví dụ: dùng hero_attribute.attribute_name, trong khi</a:t>
            </a:r>
          </a:p>
          <a:p xmlns:a="http://schemas.openxmlformats.org/drawingml/2006/main">
            <a:pPr>
              <a:defRPr sz="1950" b="0">
                <a:solidFill>
                  <a:srgbClr val="526775"/>
                </a:solidFill>
                <a:latin typeface="Noto Sans"/>
                <a:ea typeface="Noto Sans"/>
                <a:cs typeface="Noto Sans"/>
              </a:defRPr>
            </a:pPr>
            <a:r>
              <a:rPr sz="1950" b="0">
                <a:solidFill>
                  <a:srgbClr val="526775"/>
                </a:solidFill>
                <a:latin typeface="Noto Sans"/>
                <a:ea typeface="Noto Sans"/>
                <a:cs typeface="Noto Sans"/>
              </a:rPr>
              <a:t>attribute_name thuộc bảng attribute.</a:t>
            </a:r>
          </a:p>
        </p:txBody>
      </p:sp>
    </p:spTree>
    <p:extLst>
      <p:ext uri="{BB962C8B-B14F-4D97-AF65-F5344CB8AC3E}">
        <p14:creationId xmlns:p14="http://schemas.microsoft.com/office/powerpoint/2010/main" val="1623472611"/>
      </p:ext>
    </p:extLst>
  </p:cSld>
</p:sld>
</file>

<file path=ppt/slides/slide3.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B4FF964-828B-4C0D-92DD-7394A332040D}"/>
              </a:ext>
            </a:extLst>
          </p:cNvPr>
          <p:cNvSpPr>
            <a:spLocks xmlns:a="http://schemas.openxmlformats.org/drawingml/2006/main" noGrp="1"/>
          </p:cNvSpPr>
          <p:nvPr/>
        </p:nvSpPr>
        <p:spPr>
          <a:xfrm xmlns:a="http://schemas.openxmlformats.org/drawingml/2006/main">
            <a:off x="685800" y="45720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32C3D"/>
                </a:solidFill>
                <a:latin typeface="Noto Sans"/>
                <a:ea typeface="Noto Sans"/>
                <a:cs typeface="Noto Sans"/>
              </a:defRPr>
            </a:pPr>
            <a:r>
              <a:rPr sz="3300" b="1">
                <a:solidFill>
                  <a:srgbClr val="132C3D"/>
                </a:solidFill>
                <a:latin typeface="Noto Sans"/>
                <a:ea typeface="Noto Sans"/>
                <a:cs typeface="Noto Sans"/>
              </a:rPr>
              <a:t>Ý tưởng chính: biểu diễn lược đồ bằng view</a:t>
            </a:r>
          </a:p>
        </p:txBody>
      </p:sp>
      <p:sp>
        <p:nvSpPr>
          <p:cNvPr id="2" name="">
            <a:extLst xmlns:a="http://schemas.openxmlformats.org/drawingml/2006/main">
              <a:ext uri="{FF2B5EF4-FFF2-40B4-BE49-F238E27FC236}">
                <a16:creationId xmlns:a16="http://schemas.microsoft.com/office/drawing/2014/main" id="{BE0BEDF8-1841-457D-9FA1-37B1D093CEB3}"/>
              </a:ext>
            </a:extLst>
          </p:cNvPr>
          <p:cNvSpPr>
            <a:spLocks xmlns:a="http://schemas.openxmlformats.org/drawingml/2006/main" noGrp="1"/>
          </p:cNvSpPr>
          <p:nvPr/>
        </p:nvSpPr>
        <p:spPr>
          <a:xfrm xmlns:a="http://schemas.openxmlformats.org/drawingml/2006/main">
            <a:off x="10763250" y="628650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775"/>
                </a:solidFill>
                <a:latin typeface="Noto Sans"/>
                <a:ea typeface="Noto Sans"/>
                <a:cs typeface="Noto Sans"/>
              </a:defRPr>
            </a:pPr>
            <a:r>
              <a:rPr sz="1350" b="0">
                <a:solidFill>
                  <a:srgbClr val="526775"/>
                </a:solidFill>
                <a:latin typeface="Noto Sans"/>
                <a:ea typeface="Noto Sans"/>
                <a:cs typeface="Noto Sans"/>
              </a:rPr>
              <a:t>3 / 10</a:t>
            </a:r>
          </a:p>
        </p:txBody>
      </p:sp>
      <p:sp>
        <p:nvSpPr>
          <p:cNvPr id="3" name="">
            <a:extLst xmlns:a="http://schemas.openxmlformats.org/drawingml/2006/main">
              <a:ext uri="{FF2B5EF4-FFF2-40B4-BE49-F238E27FC236}">
                <a16:creationId xmlns:a16="http://schemas.microsoft.com/office/drawing/2014/main" id="{0407D9F3-39AA-418A-B7C1-38DCA22ED7CE}"/>
              </a:ext>
            </a:extLst>
          </p:cNvPr>
          <p:cNvSpPr>
            <a:spLocks xmlns:a="http://schemas.openxmlformats.org/drawingml/2006/main" noGrp="1"/>
          </p:cNvSpPr>
          <p:nvPr/>
        </p:nvSpPr>
        <p:spPr>
          <a:xfrm xmlns:a="http://schemas.openxmlformats.org/drawingml/2006/main">
            <a:off x="685800" y="1714500"/>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E80"/>
                </a:solidFill>
                <a:latin typeface="Noto Sans"/>
                <a:ea typeface="Noto Sans"/>
                <a:cs typeface="Noto Sans"/>
              </a:defRPr>
            </a:pPr>
            <a:r>
              <a:rPr sz="2250" b="1">
                <a:solidFill>
                  <a:srgbClr val="007E80"/>
                </a:solidFill>
                <a:latin typeface="Noto Sans"/>
                <a:ea typeface="Noto Sans"/>
                <a:cs typeface="Noto Sans"/>
              </a:rPr>
              <a:t>Lược đồ bảng gốc</a:t>
            </a:r>
          </a:p>
        </p:txBody>
      </p:sp>
      <p:sp>
        <p:nvSpPr>
          <p:cNvPr id="4" name="">
            <a:extLst xmlns:a="http://schemas.openxmlformats.org/drawingml/2006/main">
              <a:ext uri="{FF2B5EF4-FFF2-40B4-BE49-F238E27FC236}">
                <a16:creationId xmlns:a16="http://schemas.microsoft.com/office/drawing/2014/main" id="{20D02D50-E64F-4D3E-BD9C-DC562803465C}"/>
              </a:ext>
            </a:extLst>
          </p:cNvPr>
          <p:cNvSpPr>
            <a:spLocks xmlns:a="http://schemas.openxmlformats.org/drawingml/2006/main" noGrp="1"/>
          </p:cNvSpPr>
          <p:nvPr/>
        </p:nvSpPr>
        <p:spPr>
          <a:xfrm xmlns:a="http://schemas.openxmlformats.org/drawingml/2006/main">
            <a:off x="685800" y="2314575"/>
            <a:ext cx="48577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32C3D"/>
                </a:solidFill>
                <a:latin typeface="Noto Sans"/>
                <a:ea typeface="Noto Sans"/>
                <a:cs typeface="Noto Sans"/>
              </a:defRPr>
            </a:pPr>
            <a:r>
              <a:rPr sz="2175" b="0">
                <a:solidFill>
                  <a:srgbClr val="132C3D"/>
                </a:solidFill>
                <a:latin typeface="Noto Sans"/>
                <a:ea typeface="Noto Sans"/>
                <a:cs typeface="Noto Sans"/>
              </a:rPr>
              <a:t>superhero</a:t>
            </a:r>
          </a:p>
          <a:p xmlns:a="http://schemas.openxmlformats.org/drawingml/2006/main">
            <a:pPr>
              <a:defRPr sz="2175" b="0">
                <a:solidFill>
                  <a:srgbClr val="132C3D"/>
                </a:solidFill>
                <a:latin typeface="Noto Sans"/>
                <a:ea typeface="Noto Sans"/>
                <a:cs typeface="Noto Sans"/>
              </a:defRPr>
            </a:pPr>
            <a:r>
              <a:rPr sz="2175" b="0">
                <a:solidFill>
                  <a:srgbClr val="132C3D"/>
                </a:solidFill>
                <a:latin typeface="Noto Sans"/>
                <a:ea typeface="Noto Sans"/>
                <a:cs typeface="Noto Sans"/>
              </a:rPr>
              <a:t>  superhero_name</a:t>
            </a:r>
          </a:p>
          <a:p xmlns:a="http://schemas.openxmlformats.org/drawingml/2006/main">
            <a:pPr>
              <a:defRPr sz="2175" b="0">
                <a:solidFill>
                  <a:srgbClr val="132C3D"/>
                </a:solidFill>
                <a:latin typeface="Noto Sans"/>
                <a:ea typeface="Noto Sans"/>
                <a:cs typeface="Noto Sans"/>
              </a:defRPr>
            </a:pPr>
            <a:r>
              <a:rPr sz="2175" b="0">
                <a:solidFill>
                  <a:srgbClr val="132C3D"/>
                </a:solidFill>
                <a:latin typeface="Noto Sans"/>
                <a:ea typeface="Noto Sans"/>
                <a:cs typeface="Noto Sans"/>
              </a:rPr>
              <a:t>  eye_colour_id</a:t>
            </a:r>
          </a:p>
          <a:p xmlns:a="http://schemas.openxmlformats.org/drawingml/2006/main">
            <a:r>
              <a:t/>
            </a:r>
          </a:p>
          <a:p xmlns:a="http://schemas.openxmlformats.org/drawingml/2006/main">
            <a:pPr>
              <a:defRPr sz="2175" b="0">
                <a:solidFill>
                  <a:srgbClr val="132C3D"/>
                </a:solidFill>
                <a:latin typeface="Noto Sans"/>
                <a:ea typeface="Noto Sans"/>
                <a:cs typeface="Noto Sans"/>
              </a:defRPr>
            </a:pPr>
            <a:r>
              <a:rPr sz="2175" b="0">
                <a:solidFill>
                  <a:srgbClr val="132C3D"/>
                </a:solidFill>
                <a:latin typeface="Noto Sans"/>
                <a:ea typeface="Noto Sans"/>
                <a:cs typeface="Noto Sans"/>
              </a:rPr>
              <a:t>colour</a:t>
            </a:r>
          </a:p>
          <a:p xmlns:a="http://schemas.openxmlformats.org/drawingml/2006/main">
            <a:pPr>
              <a:defRPr sz="2175" b="0">
                <a:solidFill>
                  <a:srgbClr val="132C3D"/>
                </a:solidFill>
                <a:latin typeface="Noto Sans"/>
                <a:ea typeface="Noto Sans"/>
                <a:cs typeface="Noto Sans"/>
              </a:defRPr>
            </a:pPr>
            <a:r>
              <a:rPr sz="2175" b="0">
                <a:solidFill>
                  <a:srgbClr val="132C3D"/>
                </a:solidFill>
                <a:latin typeface="Noto Sans"/>
                <a:ea typeface="Noto Sans"/>
                <a:cs typeface="Noto Sans"/>
              </a:rPr>
              <a:t>  id, colour</a:t>
            </a:r>
          </a:p>
        </p:txBody>
      </p:sp>
      <p:sp>
        <p:nvSpPr>
          <p:cNvPr id="5" name="">
            <a:extLst xmlns:a="http://schemas.openxmlformats.org/drawingml/2006/main">
              <a:ext uri="{FF2B5EF4-FFF2-40B4-BE49-F238E27FC236}">
                <a16:creationId xmlns:a16="http://schemas.microsoft.com/office/drawing/2014/main" id="{5CAD0DBA-5881-4C49-BA58-888F8336CBBC}"/>
              </a:ext>
            </a:extLst>
          </p:cNvPr>
          <p:cNvSpPr>
            <a:spLocks xmlns:a="http://schemas.openxmlformats.org/drawingml/2006/main" noGrp="1"/>
          </p:cNvSpPr>
          <p:nvPr/>
        </p:nvSpPr>
        <p:spPr>
          <a:xfrm xmlns:a="http://schemas.openxmlformats.org/drawingml/2006/main">
            <a:off x="6400800" y="1714500"/>
            <a:ext cx="5105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E80"/>
                </a:solidFill>
                <a:latin typeface="Noto Sans"/>
                <a:ea typeface="Noto Sans"/>
                <a:cs typeface="Noto Sans"/>
              </a:defRPr>
            </a:pPr>
            <a:r>
              <a:rPr sz="2250" b="1">
                <a:solidFill>
                  <a:srgbClr val="007E80"/>
                </a:solidFill>
                <a:latin typeface="Noto Sans"/>
                <a:ea typeface="Noto Sans"/>
                <a:cs typeface="Noto Sans"/>
              </a:rPr>
              <a:t>Lược đồ view cho LLM</a:t>
            </a:r>
          </a:p>
        </p:txBody>
      </p:sp>
      <p:sp>
        <p:nvSpPr>
          <p:cNvPr id="6" name="">
            <a:extLst xmlns:a="http://schemas.openxmlformats.org/drawingml/2006/main">
              <a:ext uri="{FF2B5EF4-FFF2-40B4-BE49-F238E27FC236}">
                <a16:creationId xmlns:a16="http://schemas.microsoft.com/office/drawing/2014/main" id="{07904A90-D2DA-49FD-BE01-8031E060B423}"/>
              </a:ext>
            </a:extLst>
          </p:cNvPr>
          <p:cNvSpPr>
            <a:spLocks xmlns:a="http://schemas.openxmlformats.org/drawingml/2006/main" noGrp="1"/>
          </p:cNvSpPr>
          <p:nvPr/>
        </p:nvSpPr>
        <p:spPr>
          <a:xfrm xmlns:a="http://schemas.openxmlformats.org/drawingml/2006/main">
            <a:off x="6400800" y="2314575"/>
            <a:ext cx="51054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32C3D"/>
                </a:solidFill>
                <a:latin typeface="Noto Sans"/>
                <a:ea typeface="Noto Sans"/>
                <a:cs typeface="Noto Sans"/>
              </a:defRPr>
            </a:pPr>
            <a:r>
              <a:rPr sz="2325" b="1">
                <a:solidFill>
                  <a:srgbClr val="132C3D"/>
                </a:solidFill>
                <a:latin typeface="Noto Sans"/>
                <a:ea typeface="Noto Sans"/>
                <a:cs typeface="Noto Sans"/>
              </a:rPr>
              <a:t>v_superhero</a:t>
            </a:r>
          </a:p>
          <a:p xmlns:a="http://schemas.openxmlformats.org/drawingml/2006/main">
            <a:pPr>
              <a:defRPr sz="2325" b="1">
                <a:solidFill>
                  <a:srgbClr val="132C3D"/>
                </a:solidFill>
                <a:latin typeface="Noto Sans"/>
                <a:ea typeface="Noto Sans"/>
                <a:cs typeface="Noto Sans"/>
              </a:defRPr>
            </a:pPr>
            <a:r>
              <a:rPr sz="2325" b="1">
                <a:solidFill>
                  <a:srgbClr val="132C3D"/>
                </a:solidFill>
                <a:latin typeface="Noto Sans"/>
                <a:ea typeface="Noto Sans"/>
                <a:cs typeface="Noto Sans"/>
              </a:rPr>
              <a:t>  superhero_name</a:t>
            </a:r>
          </a:p>
          <a:p xmlns:a="http://schemas.openxmlformats.org/drawingml/2006/main">
            <a:pPr>
              <a:defRPr sz="2325" b="1">
                <a:solidFill>
                  <a:srgbClr val="132C3D"/>
                </a:solidFill>
                <a:latin typeface="Noto Sans"/>
                <a:ea typeface="Noto Sans"/>
                <a:cs typeface="Noto Sans"/>
              </a:defRPr>
            </a:pPr>
            <a:r>
              <a:rPr sz="2325" b="1">
                <a:solidFill>
                  <a:srgbClr val="132C3D"/>
                </a:solidFill>
                <a:latin typeface="Noto Sans"/>
                <a:ea typeface="Noto Sans"/>
                <a:cs typeface="Noto Sans"/>
              </a:rPr>
              <a:t>  eye_colour</a:t>
            </a:r>
          </a:p>
        </p:txBody>
      </p:sp>
      <p:sp>
        <p:nvSpPr>
          <p:cNvPr id="7" name="">
            <a:extLst xmlns:a="http://schemas.openxmlformats.org/drawingml/2006/main">
              <a:ext uri="{FF2B5EF4-FFF2-40B4-BE49-F238E27FC236}">
                <a16:creationId xmlns:a16="http://schemas.microsoft.com/office/drawing/2014/main" id="{FD6EB6EE-3D57-44D4-A34A-A9B500388E08}"/>
              </a:ext>
            </a:extLst>
          </p:cNvPr>
          <p:cNvSpPr>
            <a:spLocks xmlns:a="http://schemas.openxmlformats.org/drawingml/2006/main" noGrp="1"/>
          </p:cNvSpPr>
          <p:nvPr/>
        </p:nvSpPr>
        <p:spPr>
          <a:xfrm xmlns:a="http://schemas.openxmlformats.org/drawingml/2006/main">
            <a:off x="6400800" y="4114800"/>
            <a:ext cx="5105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775"/>
                </a:solidFill>
                <a:latin typeface="Noto Sans"/>
                <a:ea typeface="Noto Sans"/>
                <a:cs typeface="Noto Sans"/>
              </a:defRPr>
            </a:pPr>
            <a:r>
              <a:rPr sz="2025" b="0">
                <a:solidFill>
                  <a:srgbClr val="526775"/>
                </a:solidFill>
                <a:latin typeface="Noto Sans"/>
                <a:ea typeface="Noto Sans"/>
                <a:cs typeface="Noto Sans"/>
              </a:rPr>
              <a:t>Quy tắc ánh xạ giữ lại phép nối:</a:t>
            </a:r>
          </a:p>
          <a:p xmlns:a="http://schemas.openxmlformats.org/drawingml/2006/main">
            <a:pPr>
              <a:defRPr sz="2025" b="0">
                <a:solidFill>
                  <a:srgbClr val="526775"/>
                </a:solidFill>
                <a:latin typeface="Noto Sans"/>
                <a:ea typeface="Noto Sans"/>
                <a:cs typeface="Noto Sans"/>
              </a:defRPr>
            </a:pPr>
            <a:r>
              <a:rPr sz="2025" b="0">
                <a:solidFill>
                  <a:srgbClr val="526775"/>
                </a:solidFill>
                <a:latin typeface="Noto Sans"/>
                <a:ea typeface="Noto Sans"/>
                <a:cs typeface="Noto Sans"/>
              </a:rPr>
              <a:t>superhero.eye_colour_id = colour.id</a:t>
            </a:r>
          </a:p>
        </p:txBody>
      </p:sp>
      <p:sp>
        <p:nvSpPr>
          <p:cNvPr id="8" name="">
            <a:extLst xmlns:a="http://schemas.openxmlformats.org/drawingml/2006/main">
              <a:ext uri="{FF2B5EF4-FFF2-40B4-BE49-F238E27FC236}">
                <a16:creationId xmlns:a16="http://schemas.microsoft.com/office/drawing/2014/main" id="{87CE9E5E-B868-4A49-B080-EE6B3BFDF6D1}"/>
              </a:ext>
            </a:extLst>
          </p:cNvPr>
          <p:cNvSpPr>
            <a:spLocks xmlns:a="http://schemas.openxmlformats.org/drawingml/2006/main" noGrp="1"/>
          </p:cNvSpPr>
          <p:nvPr/>
        </p:nvSpPr>
        <p:spPr>
          <a:xfrm xmlns:a="http://schemas.openxmlformats.org/drawingml/2006/main">
            <a:off x="685800" y="545782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007E80"/>
                </a:solidFill>
                <a:latin typeface="Noto Sans"/>
                <a:ea typeface="Noto Sans"/>
                <a:cs typeface="Noto Sans"/>
              </a:defRPr>
            </a:pPr>
            <a:r>
              <a:rPr sz="2250" b="0">
                <a:solidFill>
                  <a:srgbClr val="007E80"/>
                </a:solidFill>
                <a:latin typeface="Noto Sans"/>
                <a:ea typeface="Noto Sans"/>
                <a:cs typeface="Noto Sans"/>
              </a:rPr>
              <a:t>LLM dùng thuộc tính màu mắt trực tiếp trong SQL trung gian.</a:t>
            </a:r>
          </a:p>
        </p:txBody>
      </p:sp>
      <p:sp>
        <p:nvSpPr>
          <p:cNvPr id="9" name="">
            <a:extLst xmlns:a="http://schemas.openxmlformats.org/drawingml/2006/main">
              <a:ext uri="{FF2B5EF4-FFF2-40B4-BE49-F238E27FC236}">
                <a16:creationId xmlns:a16="http://schemas.microsoft.com/office/drawing/2014/main" id="{67338D38-0CE1-4BEF-9B54-0110E55CF416}"/>
              </a:ext>
            </a:extLst>
          </p:cNvPr>
          <p:cNvSpPr>
            <a:spLocks xmlns:a="http://schemas.openxmlformats.org/drawingml/2006/main" noGrp="1"/>
          </p:cNvSpPr>
          <p:nvPr/>
        </p:nvSpPr>
        <p:spPr>
          <a:xfrm xmlns:a="http://schemas.openxmlformats.org/drawingml/2006/main">
            <a:off x="685800" y="6048375"/>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775"/>
                </a:solidFill>
                <a:latin typeface="Noto Sans"/>
                <a:ea typeface="Noto Sans"/>
                <a:cs typeface="Noto Sans"/>
              </a:defRPr>
            </a:pPr>
            <a:r>
              <a:rPr sz="1650" b="0">
                <a:solidFill>
                  <a:srgbClr val="526775"/>
                </a:solidFill>
                <a:latin typeface="Noto Sans"/>
                <a:ea typeface="Noto Sans"/>
                <a:cs typeface="Noto Sans"/>
              </a:rPr>
              <a:t>View nằm trong prompt. Các bảng và khóa ngoại trong DB vẫn giữ nguyên.</a:t>
            </a:r>
          </a:p>
        </p:txBody>
      </p:sp>
    </p:spTree>
    <p:extLst>
      <p:ext uri="{BB962C8B-B14F-4D97-AF65-F5344CB8AC3E}">
        <p14:creationId xmlns:p14="http://schemas.microsoft.com/office/powerpoint/2010/main" val="569098275"/>
      </p:ext>
    </p:extLst>
  </p:cSld>
</p:sld>
</file>

<file path=ppt/slides/slide4.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7B1252E-2461-4D8A-9194-FF9014C885C4}"/>
              </a:ext>
            </a:extLst>
          </p:cNvPr>
          <p:cNvSpPr>
            <a:spLocks xmlns:a="http://schemas.openxmlformats.org/drawingml/2006/main" noGrp="1"/>
          </p:cNvSpPr>
          <p:nvPr/>
        </p:nvSpPr>
        <p:spPr>
          <a:xfrm xmlns:a="http://schemas.openxmlformats.org/drawingml/2006/main">
            <a:off x="685800" y="45720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32C3D"/>
                </a:solidFill>
                <a:latin typeface="Noto Sans"/>
                <a:ea typeface="Noto Sans"/>
                <a:cs typeface="Noto Sans"/>
              </a:defRPr>
            </a:pPr>
            <a:r>
              <a:rPr sz="3300" b="1">
                <a:solidFill>
                  <a:srgbClr val="132C3D"/>
                </a:solidFill>
                <a:latin typeface="Noto Sans"/>
                <a:ea typeface="Noto Sans"/>
                <a:cs typeface="Noto Sans"/>
              </a:rPr>
              <a:t>V-SQL gồm hai giai đoạn sinh SQL</a:t>
            </a:r>
          </a:p>
        </p:txBody>
      </p:sp>
      <p:sp>
        <p:nvSpPr>
          <p:cNvPr id="2" name="">
            <a:extLst xmlns:a="http://schemas.openxmlformats.org/drawingml/2006/main">
              <a:ext uri="{FF2B5EF4-FFF2-40B4-BE49-F238E27FC236}">
                <a16:creationId xmlns:a16="http://schemas.microsoft.com/office/drawing/2014/main" id="{1303908F-9412-4C48-B6C1-455F8B07230B}"/>
              </a:ext>
            </a:extLst>
          </p:cNvPr>
          <p:cNvSpPr>
            <a:spLocks xmlns:a="http://schemas.openxmlformats.org/drawingml/2006/main" noGrp="1"/>
          </p:cNvSpPr>
          <p:nvPr/>
        </p:nvSpPr>
        <p:spPr>
          <a:xfrm xmlns:a="http://schemas.openxmlformats.org/drawingml/2006/main">
            <a:off x="10763250" y="628650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775"/>
                </a:solidFill>
                <a:latin typeface="Noto Sans"/>
                <a:ea typeface="Noto Sans"/>
                <a:cs typeface="Noto Sans"/>
              </a:defRPr>
            </a:pPr>
            <a:r>
              <a:rPr sz="1350" b="0">
                <a:solidFill>
                  <a:srgbClr val="526775"/>
                </a:solidFill>
                <a:latin typeface="Noto Sans"/>
                <a:ea typeface="Noto Sans"/>
                <a:cs typeface="Noto Sans"/>
              </a:rPr>
              <a:t>4 / 10</a:t>
            </a:r>
          </a:p>
        </p:txBody>
      </p:sp>
      <p:sp>
        <p:nvSpPr>
          <p:cNvPr id="3" name="">
            <a:extLst xmlns:a="http://schemas.openxmlformats.org/drawingml/2006/main">
              <a:ext uri="{FF2B5EF4-FFF2-40B4-BE49-F238E27FC236}">
                <a16:creationId xmlns:a16="http://schemas.microsoft.com/office/drawing/2014/main" id="{EE5E39D6-3882-4B66-906B-5D20A6E05648}"/>
              </a:ext>
            </a:extLst>
          </p:cNvPr>
          <p:cNvSpPr>
            <a:spLocks xmlns:a="http://schemas.openxmlformats.org/drawingml/2006/main" noGrp="1"/>
          </p:cNvSpPr>
          <p:nvPr/>
        </p:nvSpPr>
        <p:spPr>
          <a:xfrm xmlns:a="http://schemas.openxmlformats.org/drawingml/2006/main">
            <a:off x="685800" y="1647825"/>
            <a:ext cx="95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007E80"/>
                </a:solidFill>
                <a:latin typeface="Noto Sans"/>
                <a:ea typeface="Noto Sans"/>
                <a:cs typeface="Noto Sans"/>
              </a:defRPr>
            </a:pPr>
            <a:r>
              <a:rPr sz="3375" b="1">
                <a:solidFill>
                  <a:srgbClr val="007E80"/>
                </a:solidFill>
                <a:latin typeface="Noto Sans"/>
                <a:ea typeface="Noto Sans"/>
                <a:cs typeface="Noto Sans"/>
              </a:rPr>
              <a:t>A</a:t>
            </a:r>
          </a:p>
        </p:txBody>
      </p:sp>
      <p:sp>
        <p:nvSpPr>
          <p:cNvPr id="4" name="">
            <a:extLst xmlns:a="http://schemas.openxmlformats.org/drawingml/2006/main">
              <a:ext uri="{FF2B5EF4-FFF2-40B4-BE49-F238E27FC236}">
                <a16:creationId xmlns:a16="http://schemas.microsoft.com/office/drawing/2014/main" id="{C5E31E30-1AA2-42A8-819C-A2FBFC3860E1}"/>
              </a:ext>
            </a:extLst>
          </p:cNvPr>
          <p:cNvSpPr>
            <a:spLocks xmlns:a="http://schemas.openxmlformats.org/drawingml/2006/main" noGrp="1"/>
          </p:cNvSpPr>
          <p:nvPr/>
        </p:nvSpPr>
        <p:spPr>
          <a:xfrm xmlns:a="http://schemas.openxmlformats.org/drawingml/2006/main">
            <a:off x="1714500" y="1647825"/>
            <a:ext cx="979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32C3D"/>
                </a:solidFill>
                <a:latin typeface="Noto Sans"/>
                <a:ea typeface="Noto Sans"/>
                <a:cs typeface="Noto Sans"/>
              </a:defRPr>
            </a:pPr>
            <a:r>
              <a:rPr sz="2250" b="1">
                <a:solidFill>
                  <a:srgbClr val="132C3D"/>
                </a:solidFill>
                <a:latin typeface="Noto Sans"/>
                <a:ea typeface="Noto Sans"/>
                <a:cs typeface="Noto Sans"/>
              </a:rPr>
              <a:t>Chuẩn bị: Table Mapping</a:t>
            </a:r>
          </a:p>
        </p:txBody>
      </p:sp>
      <p:sp>
        <p:nvSpPr>
          <p:cNvPr id="5" name="">
            <a:extLst xmlns:a="http://schemas.openxmlformats.org/drawingml/2006/main">
              <a:ext uri="{FF2B5EF4-FFF2-40B4-BE49-F238E27FC236}">
                <a16:creationId xmlns:a16="http://schemas.microsoft.com/office/drawing/2014/main" id="{374DFF90-4361-48BA-BFE5-6BE39912B4CC}"/>
              </a:ext>
            </a:extLst>
          </p:cNvPr>
          <p:cNvSpPr>
            <a:spLocks xmlns:a="http://schemas.openxmlformats.org/drawingml/2006/main" noGrp="1"/>
          </p:cNvSpPr>
          <p:nvPr/>
        </p:nvSpPr>
        <p:spPr>
          <a:xfrm xmlns:a="http://schemas.openxmlformats.org/drawingml/2006/main">
            <a:off x="1714500" y="2162175"/>
            <a:ext cx="97917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775"/>
                </a:solidFill>
                <a:latin typeface="Noto Sans"/>
                <a:ea typeface="Noto Sans"/>
                <a:cs typeface="Noto Sans"/>
              </a:defRPr>
            </a:pPr>
            <a:r>
              <a:rPr sz="2025" b="0">
                <a:solidFill>
                  <a:srgbClr val="526775"/>
                </a:solidFill>
                <a:latin typeface="Noto Sans"/>
                <a:ea typeface="Noto Sans"/>
                <a:cs typeface="Noto Sans"/>
              </a:rPr>
              <a:t>Tạo mô tả view và lưu quy tắc ánh xạ về bảng gốc.</a:t>
            </a:r>
          </a:p>
        </p:txBody>
      </p:sp>
      <p:sp>
        <p:nvSpPr>
          <p:cNvPr id="6" name="">
            <a:extLst xmlns:a="http://schemas.openxmlformats.org/drawingml/2006/main">
              <a:ext uri="{FF2B5EF4-FFF2-40B4-BE49-F238E27FC236}">
                <a16:creationId xmlns:a16="http://schemas.microsoft.com/office/drawing/2014/main" id="{D560C9FE-F42A-4476-9C2D-77E21B9934A1}"/>
              </a:ext>
            </a:extLst>
          </p:cNvPr>
          <p:cNvSpPr>
            <a:spLocks xmlns:a="http://schemas.openxmlformats.org/drawingml/2006/main" noGrp="1"/>
          </p:cNvSpPr>
          <p:nvPr/>
        </p:nvSpPr>
        <p:spPr>
          <a:xfrm xmlns:a="http://schemas.openxmlformats.org/drawingml/2006/main">
            <a:off x="685800" y="2933700"/>
            <a:ext cx="95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007E80"/>
                </a:solidFill>
                <a:latin typeface="Noto Sans"/>
                <a:ea typeface="Noto Sans"/>
                <a:cs typeface="Noto Sans"/>
              </a:defRPr>
            </a:pPr>
            <a:r>
              <a:rPr sz="3375" b="1">
                <a:solidFill>
                  <a:srgbClr val="007E80"/>
                </a:solidFill>
                <a:latin typeface="Noto Sans"/>
                <a:ea typeface="Noto Sans"/>
                <a:cs typeface="Noto Sans"/>
              </a:rPr>
              <a:t>1</a:t>
            </a:r>
          </a:p>
        </p:txBody>
      </p:sp>
      <p:sp>
        <p:nvSpPr>
          <p:cNvPr id="7" name="">
            <a:extLst xmlns:a="http://schemas.openxmlformats.org/drawingml/2006/main">
              <a:ext uri="{FF2B5EF4-FFF2-40B4-BE49-F238E27FC236}">
                <a16:creationId xmlns:a16="http://schemas.microsoft.com/office/drawing/2014/main" id="{92112E47-CA72-4AB1-BD15-3418E7C6F47A}"/>
              </a:ext>
            </a:extLst>
          </p:cNvPr>
          <p:cNvSpPr>
            <a:spLocks xmlns:a="http://schemas.openxmlformats.org/drawingml/2006/main" noGrp="1"/>
          </p:cNvSpPr>
          <p:nvPr/>
        </p:nvSpPr>
        <p:spPr>
          <a:xfrm xmlns:a="http://schemas.openxmlformats.org/drawingml/2006/main">
            <a:off x="1714500" y="2933700"/>
            <a:ext cx="979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32C3D"/>
                </a:solidFill>
                <a:latin typeface="Noto Sans"/>
                <a:ea typeface="Noto Sans"/>
                <a:cs typeface="Noto Sans"/>
              </a:defRPr>
            </a:pPr>
            <a:r>
              <a:rPr sz="2250" b="1">
                <a:solidFill>
                  <a:srgbClr val="132C3D"/>
                </a:solidFill>
                <a:latin typeface="Noto Sans"/>
                <a:ea typeface="Noto Sans"/>
                <a:cs typeface="Noto Sans"/>
              </a:rPr>
              <a:t>Giai đoạn 1: Dummy SQL Generation</a:t>
            </a:r>
          </a:p>
        </p:txBody>
      </p:sp>
      <p:sp>
        <p:nvSpPr>
          <p:cNvPr id="8" name="">
            <a:extLst xmlns:a="http://schemas.openxmlformats.org/drawingml/2006/main">
              <a:ext uri="{FF2B5EF4-FFF2-40B4-BE49-F238E27FC236}">
                <a16:creationId xmlns:a16="http://schemas.microsoft.com/office/drawing/2014/main" id="{A99B4042-4AA0-4F9F-856A-9C816401D1D1}"/>
              </a:ext>
            </a:extLst>
          </p:cNvPr>
          <p:cNvSpPr>
            <a:spLocks xmlns:a="http://schemas.openxmlformats.org/drawingml/2006/main" noGrp="1"/>
          </p:cNvSpPr>
          <p:nvPr/>
        </p:nvSpPr>
        <p:spPr>
          <a:xfrm xmlns:a="http://schemas.openxmlformats.org/drawingml/2006/main">
            <a:off x="1714500" y="3448050"/>
            <a:ext cx="97917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775"/>
                </a:solidFill>
                <a:latin typeface="Noto Sans"/>
                <a:ea typeface="Noto Sans"/>
                <a:cs typeface="Noto Sans"/>
              </a:defRPr>
            </a:pPr>
            <a:r>
              <a:rPr sz="2025" b="0">
                <a:solidFill>
                  <a:srgbClr val="526775"/>
                </a:solidFill>
                <a:latin typeface="Noto Sans"/>
                <a:ea typeface="Noto Sans"/>
                <a:cs typeface="Noto Sans"/>
              </a:rPr>
              <a:t>LLM viết SQL trung gian trên các view liên quan đến câu hỏi.</a:t>
            </a:r>
          </a:p>
        </p:txBody>
      </p:sp>
      <p:sp>
        <p:nvSpPr>
          <p:cNvPr id="9" name="">
            <a:extLst xmlns:a="http://schemas.openxmlformats.org/drawingml/2006/main">
              <a:ext uri="{FF2B5EF4-FFF2-40B4-BE49-F238E27FC236}">
                <a16:creationId xmlns:a16="http://schemas.microsoft.com/office/drawing/2014/main" id="{130C64BA-5C8F-498F-803E-ABB331CBB024}"/>
              </a:ext>
            </a:extLst>
          </p:cNvPr>
          <p:cNvSpPr>
            <a:spLocks xmlns:a="http://schemas.openxmlformats.org/drawingml/2006/main" noGrp="1"/>
          </p:cNvSpPr>
          <p:nvPr/>
        </p:nvSpPr>
        <p:spPr>
          <a:xfrm xmlns:a="http://schemas.openxmlformats.org/drawingml/2006/main">
            <a:off x="685800" y="4219575"/>
            <a:ext cx="95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007E80"/>
                </a:solidFill>
                <a:latin typeface="Noto Sans"/>
                <a:ea typeface="Noto Sans"/>
                <a:cs typeface="Noto Sans"/>
              </a:defRPr>
            </a:pPr>
            <a:r>
              <a:rPr sz="3375" b="1">
                <a:solidFill>
                  <a:srgbClr val="007E80"/>
                </a:solidFill>
                <a:latin typeface="Noto Sans"/>
                <a:ea typeface="Noto Sans"/>
                <a:cs typeface="Noto Sans"/>
              </a:rPr>
              <a:t>2</a:t>
            </a:r>
          </a:p>
        </p:txBody>
      </p:sp>
      <p:sp>
        <p:nvSpPr>
          <p:cNvPr id="10" name="">
            <a:extLst xmlns:a="http://schemas.openxmlformats.org/drawingml/2006/main">
              <a:ext uri="{FF2B5EF4-FFF2-40B4-BE49-F238E27FC236}">
                <a16:creationId xmlns:a16="http://schemas.microsoft.com/office/drawing/2014/main" id="{A41F1920-4CA0-4EF6-AA5B-81E8DDC23E52}"/>
              </a:ext>
            </a:extLst>
          </p:cNvPr>
          <p:cNvSpPr>
            <a:spLocks xmlns:a="http://schemas.openxmlformats.org/drawingml/2006/main" noGrp="1"/>
          </p:cNvSpPr>
          <p:nvPr/>
        </p:nvSpPr>
        <p:spPr>
          <a:xfrm xmlns:a="http://schemas.openxmlformats.org/drawingml/2006/main">
            <a:off x="1714500" y="4219575"/>
            <a:ext cx="979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32C3D"/>
                </a:solidFill>
                <a:latin typeface="Noto Sans"/>
                <a:ea typeface="Noto Sans"/>
                <a:cs typeface="Noto Sans"/>
              </a:defRPr>
            </a:pPr>
            <a:r>
              <a:rPr sz="2250" b="1">
                <a:solidFill>
                  <a:srgbClr val="132C3D"/>
                </a:solidFill>
                <a:latin typeface="Noto Sans"/>
                <a:ea typeface="Noto Sans"/>
                <a:cs typeface="Noto Sans"/>
              </a:rPr>
              <a:t>Giai đoạn 2: SQL Reconstruction</a:t>
            </a:r>
          </a:p>
        </p:txBody>
      </p:sp>
      <p:sp>
        <p:nvSpPr>
          <p:cNvPr id="11" name="">
            <a:extLst xmlns:a="http://schemas.openxmlformats.org/drawingml/2006/main">
              <a:ext uri="{FF2B5EF4-FFF2-40B4-BE49-F238E27FC236}">
                <a16:creationId xmlns:a16="http://schemas.microsoft.com/office/drawing/2014/main" id="{03F84A6F-71C0-441E-8B1E-47790D1E343B}"/>
              </a:ext>
            </a:extLst>
          </p:cNvPr>
          <p:cNvSpPr>
            <a:spLocks xmlns:a="http://schemas.openxmlformats.org/drawingml/2006/main" noGrp="1"/>
          </p:cNvSpPr>
          <p:nvPr/>
        </p:nvSpPr>
        <p:spPr>
          <a:xfrm xmlns:a="http://schemas.openxmlformats.org/drawingml/2006/main">
            <a:off x="1714500" y="4733925"/>
            <a:ext cx="97917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775"/>
                </a:solidFill>
                <a:latin typeface="Noto Sans"/>
                <a:ea typeface="Noto Sans"/>
                <a:cs typeface="Noto Sans"/>
              </a:defRPr>
            </a:pPr>
            <a:r>
              <a:rPr sz="2025" b="0">
                <a:solidFill>
                  <a:srgbClr val="526775"/>
                </a:solidFill>
                <a:latin typeface="Noto Sans"/>
                <a:ea typeface="Noto Sans"/>
                <a:cs typeface="Noto Sans"/>
              </a:rPr>
              <a:t>LLM khôi phục SQL trên bảng gốc và các JOIN cần thiết.</a:t>
            </a:r>
          </a:p>
        </p:txBody>
      </p:sp>
      <p:sp>
        <p:nvSpPr>
          <p:cNvPr id="12" name="">
            <a:extLst xmlns:a="http://schemas.openxmlformats.org/drawingml/2006/main">
              <a:ext uri="{FF2B5EF4-FFF2-40B4-BE49-F238E27FC236}">
                <a16:creationId xmlns:a16="http://schemas.microsoft.com/office/drawing/2014/main" id="{D0F494E7-DF43-4795-B5A7-6544A4E406D2}"/>
              </a:ext>
            </a:extLst>
          </p:cNvPr>
          <p:cNvSpPr>
            <a:spLocks xmlns:a="http://schemas.openxmlformats.org/drawingml/2006/main" noGrp="1"/>
          </p:cNvSpPr>
          <p:nvPr/>
        </p:nvSpPr>
        <p:spPr>
          <a:xfrm xmlns:a="http://schemas.openxmlformats.org/drawingml/2006/main">
            <a:off x="685800" y="581025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007E80"/>
                </a:solidFill>
                <a:latin typeface="Noto Sans"/>
                <a:ea typeface="Noto Sans"/>
                <a:cs typeface="Noto Sans"/>
              </a:defRPr>
            </a:pPr>
            <a:r>
              <a:rPr sz="1950" b="0">
                <a:solidFill>
                  <a:srgbClr val="007E80"/>
                </a:solidFill>
                <a:latin typeface="Noto Sans"/>
                <a:ea typeface="Noto Sans"/>
                <a:cs typeface="Noto Sans"/>
              </a:rPr>
              <a:t>Dummy SQL không chạy trực tiếp. Chỉ SQL cuối truy vấn cơ sở dữ liệu.</a:t>
            </a:r>
          </a:p>
        </p:txBody>
      </p:sp>
    </p:spTree>
    <p:extLst>
      <p:ext uri="{BB962C8B-B14F-4D97-AF65-F5344CB8AC3E}">
        <p14:creationId xmlns:p14="http://schemas.microsoft.com/office/powerpoint/2010/main" val="1309162269"/>
      </p:ext>
    </p:extLst>
  </p:cSld>
</p:sld>
</file>

<file path=ppt/slides/slide5.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548B51F-E1A5-484D-BF7D-675E71D5EE7F}"/>
              </a:ext>
            </a:extLst>
          </p:cNvPr>
          <p:cNvSpPr>
            <a:spLocks xmlns:a="http://schemas.openxmlformats.org/drawingml/2006/main" noGrp="1"/>
          </p:cNvSpPr>
          <p:nvPr/>
        </p:nvSpPr>
        <p:spPr>
          <a:xfrm xmlns:a="http://schemas.openxmlformats.org/drawingml/2006/main">
            <a:off x="685800" y="45720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32C3D"/>
                </a:solidFill>
                <a:latin typeface="Noto Sans"/>
                <a:ea typeface="Noto Sans"/>
                <a:cs typeface="Noto Sans"/>
              </a:defRPr>
            </a:pPr>
            <a:r>
              <a:rPr sz="3300" b="1">
                <a:solidFill>
                  <a:srgbClr val="132C3D"/>
                </a:solidFill>
                <a:latin typeface="Noto Sans"/>
                <a:ea typeface="Noto Sans"/>
                <a:cs typeface="Noto Sans"/>
              </a:rPr>
              <a:t>Ví dụ trong bài: mắt xanh và tóc vàng</a:t>
            </a:r>
          </a:p>
        </p:txBody>
      </p:sp>
      <p:sp>
        <p:nvSpPr>
          <p:cNvPr id="2" name="">
            <a:extLst xmlns:a="http://schemas.openxmlformats.org/drawingml/2006/main">
              <a:ext uri="{FF2B5EF4-FFF2-40B4-BE49-F238E27FC236}">
                <a16:creationId xmlns:a16="http://schemas.microsoft.com/office/drawing/2014/main" id="{6CCEDABC-C654-43E1-AEF9-138198C84721}"/>
              </a:ext>
            </a:extLst>
          </p:cNvPr>
          <p:cNvSpPr>
            <a:spLocks xmlns:a="http://schemas.openxmlformats.org/drawingml/2006/main" noGrp="1"/>
          </p:cNvSpPr>
          <p:nvPr/>
        </p:nvSpPr>
        <p:spPr>
          <a:xfrm xmlns:a="http://schemas.openxmlformats.org/drawingml/2006/main">
            <a:off x="10763250" y="628650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775"/>
                </a:solidFill>
                <a:latin typeface="Noto Sans"/>
                <a:ea typeface="Noto Sans"/>
                <a:cs typeface="Noto Sans"/>
              </a:defRPr>
            </a:pPr>
            <a:r>
              <a:rPr sz="1350" b="0">
                <a:solidFill>
                  <a:srgbClr val="526775"/>
                </a:solidFill>
                <a:latin typeface="Noto Sans"/>
                <a:ea typeface="Noto Sans"/>
                <a:cs typeface="Noto Sans"/>
              </a:rPr>
              <a:t>5 / 10</a:t>
            </a:r>
          </a:p>
        </p:txBody>
      </p:sp>
      <p:sp>
        <p:nvSpPr>
          <p:cNvPr id="3" name="">
            <a:extLst xmlns:a="http://schemas.openxmlformats.org/drawingml/2006/main">
              <a:ext uri="{FF2B5EF4-FFF2-40B4-BE49-F238E27FC236}">
                <a16:creationId xmlns:a16="http://schemas.microsoft.com/office/drawing/2014/main" id="{CA2317CD-1DFA-402B-A96A-B568F2AAFF87}"/>
              </a:ext>
            </a:extLst>
          </p:cNvPr>
          <p:cNvSpPr>
            <a:spLocks xmlns:a="http://schemas.openxmlformats.org/drawingml/2006/main" noGrp="1"/>
          </p:cNvSpPr>
          <p:nvPr/>
        </p:nvSpPr>
        <p:spPr>
          <a:xfrm xmlns:a="http://schemas.openxmlformats.org/drawingml/2006/main">
            <a:off x="685800" y="16764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E80"/>
                </a:solidFill>
                <a:latin typeface="Noto Sans"/>
                <a:ea typeface="Noto Sans"/>
                <a:cs typeface="Noto Sans"/>
              </a:defRPr>
            </a:pPr>
            <a:r>
              <a:rPr sz="2025" b="1">
                <a:solidFill>
                  <a:srgbClr val="007E80"/>
                </a:solidFill>
                <a:latin typeface="Noto Sans"/>
                <a:ea typeface="Noto Sans"/>
                <a:cs typeface="Noto Sans"/>
              </a:rPr>
              <a:t>Dummy SQL trên view</a:t>
            </a:r>
          </a:p>
        </p:txBody>
      </p:sp>
      <p:sp>
        <p:nvSpPr>
          <p:cNvPr id="4" name="">
            <a:extLst xmlns:a="http://schemas.openxmlformats.org/drawingml/2006/main">
              <a:ext uri="{FF2B5EF4-FFF2-40B4-BE49-F238E27FC236}">
                <a16:creationId xmlns:a16="http://schemas.microsoft.com/office/drawing/2014/main" id="{53E6DF07-F046-4244-9D56-35DD07A84E01}"/>
              </a:ext>
            </a:extLst>
          </p:cNvPr>
          <p:cNvSpPr>
            <a:spLocks xmlns:a="http://schemas.openxmlformats.org/drawingml/2006/main" noGrp="1"/>
          </p:cNvSpPr>
          <p:nvPr/>
        </p:nvSpPr>
        <p:spPr>
          <a:xfrm xmlns:a="http://schemas.openxmlformats.org/drawingml/2006/main">
            <a:off x="685800" y="2305050"/>
            <a:ext cx="504825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32C3D"/>
                </a:solidFill>
                <a:latin typeface="Noto Sans Mono"/>
                <a:ea typeface="Noto Sans Mono"/>
                <a:cs typeface="Noto Sans Mono"/>
              </a:defRPr>
            </a:pPr>
            <a:r>
              <a:rPr sz="1950" b="0">
                <a:solidFill>
                  <a:srgbClr val="132C3D"/>
                </a:solidFill>
                <a:latin typeface="Noto Sans Mono"/>
                <a:ea typeface="Noto Sans Mono"/>
                <a:cs typeface="Noto Sans Mono"/>
              </a:rPr>
              <a:t>SELECT superhero_name</a:t>
            </a:r>
          </a:p>
          <a:p xmlns:a="http://schemas.openxmlformats.org/drawingml/2006/main">
            <a:pPr>
              <a:defRPr sz="1950" b="0">
                <a:solidFill>
                  <a:srgbClr val="132C3D"/>
                </a:solidFill>
                <a:latin typeface="Noto Sans Mono"/>
                <a:ea typeface="Noto Sans Mono"/>
                <a:cs typeface="Noto Sans Mono"/>
              </a:defRPr>
            </a:pPr>
            <a:r>
              <a:rPr sz="1950" b="0">
                <a:solidFill>
                  <a:srgbClr val="132C3D"/>
                </a:solidFill>
                <a:latin typeface="Noto Sans Mono"/>
                <a:ea typeface="Noto Sans Mono"/>
                <a:cs typeface="Noto Sans Mono"/>
              </a:rPr>
              <a:t>FROM v_superhero</a:t>
            </a:r>
          </a:p>
          <a:p xmlns:a="http://schemas.openxmlformats.org/drawingml/2006/main">
            <a:pPr>
              <a:defRPr sz="1950" b="0">
                <a:solidFill>
                  <a:srgbClr val="132C3D"/>
                </a:solidFill>
                <a:latin typeface="Noto Sans Mono"/>
                <a:ea typeface="Noto Sans Mono"/>
                <a:cs typeface="Noto Sans Mono"/>
              </a:defRPr>
            </a:pPr>
            <a:r>
              <a:rPr sz="1950" b="0">
                <a:solidFill>
                  <a:srgbClr val="132C3D"/>
                </a:solidFill>
                <a:latin typeface="Noto Sans Mono"/>
                <a:ea typeface="Noto Sans Mono"/>
                <a:cs typeface="Noto Sans Mono"/>
              </a:rPr>
              <a:t>WHERE eye_colour = 'Blue'</a:t>
            </a:r>
          </a:p>
          <a:p xmlns:a="http://schemas.openxmlformats.org/drawingml/2006/main">
            <a:pPr>
              <a:defRPr sz="1950" b="0">
                <a:solidFill>
                  <a:srgbClr val="132C3D"/>
                </a:solidFill>
                <a:latin typeface="Noto Sans Mono"/>
                <a:ea typeface="Noto Sans Mono"/>
                <a:cs typeface="Noto Sans Mono"/>
              </a:defRPr>
            </a:pPr>
            <a:r>
              <a:rPr sz="1950" b="0">
                <a:solidFill>
                  <a:srgbClr val="132C3D"/>
                </a:solidFill>
                <a:latin typeface="Noto Sans Mono"/>
                <a:ea typeface="Noto Sans Mono"/>
                <a:cs typeface="Noto Sans Mono"/>
              </a:rPr>
              <a:t>  AND hair_colour = 'Blond';</a:t>
            </a:r>
          </a:p>
        </p:txBody>
      </p:sp>
      <p:sp>
        <p:nvSpPr>
          <p:cNvPr id="5" name="">
            <a:extLst xmlns:a="http://schemas.openxmlformats.org/drawingml/2006/main">
              <a:ext uri="{FF2B5EF4-FFF2-40B4-BE49-F238E27FC236}">
                <a16:creationId xmlns:a16="http://schemas.microsoft.com/office/drawing/2014/main" id="{922E4B49-97E6-4BDD-9720-A1F3BBB873E6}"/>
              </a:ext>
            </a:extLst>
          </p:cNvPr>
          <p:cNvSpPr>
            <a:spLocks xmlns:a="http://schemas.openxmlformats.org/drawingml/2006/main" noGrp="1"/>
          </p:cNvSpPr>
          <p:nvPr/>
        </p:nvSpPr>
        <p:spPr>
          <a:xfrm xmlns:a="http://schemas.openxmlformats.org/drawingml/2006/main">
            <a:off x="6286500" y="1676400"/>
            <a:ext cx="5219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E80"/>
                </a:solidFill>
                <a:latin typeface="Noto Sans"/>
                <a:ea typeface="Noto Sans"/>
                <a:cs typeface="Noto Sans"/>
              </a:defRPr>
            </a:pPr>
            <a:r>
              <a:rPr sz="2025" b="1">
                <a:solidFill>
                  <a:srgbClr val="007E80"/>
                </a:solidFill>
                <a:latin typeface="Noto Sans"/>
                <a:ea typeface="Noto Sans"/>
                <a:cs typeface="Noto Sans"/>
              </a:rPr>
              <a:t>SQL cuối trên bảng gốc</a:t>
            </a:r>
          </a:p>
        </p:txBody>
      </p:sp>
      <p:sp>
        <p:nvSpPr>
          <p:cNvPr id="6" name="">
            <a:extLst xmlns:a="http://schemas.openxmlformats.org/drawingml/2006/main">
              <a:ext uri="{FF2B5EF4-FFF2-40B4-BE49-F238E27FC236}">
                <a16:creationId xmlns:a16="http://schemas.microsoft.com/office/drawing/2014/main" id="{9CB0FF67-61E6-4E76-915B-7936B6E3D698}"/>
              </a:ext>
            </a:extLst>
          </p:cNvPr>
          <p:cNvSpPr>
            <a:spLocks xmlns:a="http://schemas.openxmlformats.org/drawingml/2006/main" noGrp="1"/>
          </p:cNvSpPr>
          <p:nvPr/>
        </p:nvSpPr>
        <p:spPr>
          <a:xfrm xmlns:a="http://schemas.openxmlformats.org/drawingml/2006/main">
            <a:off x="6286500" y="2257425"/>
            <a:ext cx="5219700" cy="3209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32C3D"/>
                </a:solidFill>
                <a:latin typeface="Noto Sans Mono"/>
                <a:ea typeface="Noto Sans Mono"/>
                <a:cs typeface="Noto Sans Mono"/>
              </a:defRPr>
            </a:pPr>
            <a:r>
              <a:rPr sz="1875" b="0">
                <a:solidFill>
                  <a:srgbClr val="132C3D"/>
                </a:solidFill>
                <a:latin typeface="Noto Sans Mono"/>
                <a:ea typeface="Noto Sans Mono"/>
                <a:cs typeface="Noto Sans Mono"/>
              </a:rPr>
              <a:t>SELECT s.superhero_name</a:t>
            </a:r>
          </a:p>
          <a:p xmlns:a="http://schemas.openxmlformats.org/drawingml/2006/main">
            <a:pPr>
              <a:defRPr sz="1875" b="0">
                <a:solidFill>
                  <a:srgbClr val="132C3D"/>
                </a:solidFill>
                <a:latin typeface="Noto Sans Mono"/>
                <a:ea typeface="Noto Sans Mono"/>
                <a:cs typeface="Noto Sans Mono"/>
              </a:defRPr>
            </a:pPr>
            <a:r>
              <a:rPr sz="1875" b="0">
                <a:solidFill>
                  <a:srgbClr val="132C3D"/>
                </a:solidFill>
                <a:latin typeface="Noto Sans Mono"/>
                <a:ea typeface="Noto Sans Mono"/>
                <a:cs typeface="Noto Sans Mono"/>
              </a:rPr>
              <a:t>FROM superhero AS s</a:t>
            </a:r>
          </a:p>
          <a:p xmlns:a="http://schemas.openxmlformats.org/drawingml/2006/main">
            <a:pPr>
              <a:defRPr sz="1875" b="0">
                <a:solidFill>
                  <a:srgbClr val="132C3D"/>
                </a:solidFill>
                <a:latin typeface="Noto Sans Mono"/>
                <a:ea typeface="Noto Sans Mono"/>
                <a:cs typeface="Noto Sans Mono"/>
              </a:defRPr>
            </a:pPr>
            <a:r>
              <a:rPr sz="1875" b="0">
                <a:solidFill>
                  <a:srgbClr val="132C3D"/>
                </a:solidFill>
                <a:latin typeface="Noto Sans Mono"/>
                <a:ea typeface="Noto Sans Mono"/>
                <a:cs typeface="Noto Sans Mono"/>
              </a:rPr>
              <a:t>JOIN colour AS e</a:t>
            </a:r>
          </a:p>
          <a:p xmlns:a="http://schemas.openxmlformats.org/drawingml/2006/main">
            <a:pPr>
              <a:defRPr sz="1875" b="0">
                <a:solidFill>
                  <a:srgbClr val="132C3D"/>
                </a:solidFill>
                <a:latin typeface="Noto Sans Mono"/>
                <a:ea typeface="Noto Sans Mono"/>
                <a:cs typeface="Noto Sans Mono"/>
              </a:defRPr>
            </a:pPr>
            <a:r>
              <a:rPr sz="1875" b="0">
                <a:solidFill>
                  <a:srgbClr val="132C3D"/>
                </a:solidFill>
                <a:latin typeface="Noto Sans Mono"/>
                <a:ea typeface="Noto Sans Mono"/>
                <a:cs typeface="Noto Sans Mono"/>
              </a:rPr>
              <a:t>  ON s.eye_colour_id = e.id</a:t>
            </a:r>
          </a:p>
          <a:p xmlns:a="http://schemas.openxmlformats.org/drawingml/2006/main">
            <a:pPr>
              <a:defRPr sz="1875" b="0">
                <a:solidFill>
                  <a:srgbClr val="132C3D"/>
                </a:solidFill>
                <a:latin typeface="Noto Sans Mono"/>
                <a:ea typeface="Noto Sans Mono"/>
                <a:cs typeface="Noto Sans Mono"/>
              </a:defRPr>
            </a:pPr>
            <a:r>
              <a:rPr sz="1875" b="0">
                <a:solidFill>
                  <a:srgbClr val="132C3D"/>
                </a:solidFill>
                <a:latin typeface="Noto Sans Mono"/>
                <a:ea typeface="Noto Sans Mono"/>
                <a:cs typeface="Noto Sans Mono"/>
              </a:rPr>
              <a:t>JOIN colour AS h</a:t>
            </a:r>
          </a:p>
          <a:p xmlns:a="http://schemas.openxmlformats.org/drawingml/2006/main">
            <a:pPr>
              <a:defRPr sz="1875" b="0">
                <a:solidFill>
                  <a:srgbClr val="132C3D"/>
                </a:solidFill>
                <a:latin typeface="Noto Sans Mono"/>
                <a:ea typeface="Noto Sans Mono"/>
                <a:cs typeface="Noto Sans Mono"/>
              </a:defRPr>
            </a:pPr>
            <a:r>
              <a:rPr sz="1875" b="0">
                <a:solidFill>
                  <a:srgbClr val="132C3D"/>
                </a:solidFill>
                <a:latin typeface="Noto Sans Mono"/>
                <a:ea typeface="Noto Sans Mono"/>
                <a:cs typeface="Noto Sans Mono"/>
              </a:rPr>
              <a:t>  ON s.hair_colour_id = h.id</a:t>
            </a:r>
          </a:p>
          <a:p xmlns:a="http://schemas.openxmlformats.org/drawingml/2006/main">
            <a:pPr>
              <a:defRPr sz="1875" b="0">
                <a:solidFill>
                  <a:srgbClr val="132C3D"/>
                </a:solidFill>
                <a:latin typeface="Noto Sans Mono"/>
                <a:ea typeface="Noto Sans Mono"/>
                <a:cs typeface="Noto Sans Mono"/>
              </a:defRPr>
            </a:pPr>
            <a:r>
              <a:rPr sz="1875" b="0">
                <a:solidFill>
                  <a:srgbClr val="132C3D"/>
                </a:solidFill>
                <a:latin typeface="Noto Sans Mono"/>
                <a:ea typeface="Noto Sans Mono"/>
                <a:cs typeface="Noto Sans Mono"/>
              </a:rPr>
              <a:t>WHERE e.colour = 'Blue'</a:t>
            </a:r>
          </a:p>
          <a:p xmlns:a="http://schemas.openxmlformats.org/drawingml/2006/main">
            <a:pPr>
              <a:defRPr sz="1875" b="0">
                <a:solidFill>
                  <a:srgbClr val="132C3D"/>
                </a:solidFill>
                <a:latin typeface="Noto Sans Mono"/>
                <a:ea typeface="Noto Sans Mono"/>
                <a:cs typeface="Noto Sans Mono"/>
              </a:defRPr>
            </a:pPr>
            <a:r>
              <a:rPr sz="1875" b="0">
                <a:solidFill>
                  <a:srgbClr val="132C3D"/>
                </a:solidFill>
                <a:latin typeface="Noto Sans Mono"/>
                <a:ea typeface="Noto Sans Mono"/>
                <a:cs typeface="Noto Sans Mono"/>
              </a:rPr>
              <a:t>  AND h.colour = 'Blond';</a:t>
            </a:r>
          </a:p>
        </p:txBody>
      </p:sp>
      <p:sp>
        <p:nvSpPr>
          <p:cNvPr id="7" name="">
            <a:extLst xmlns:a="http://schemas.openxmlformats.org/drawingml/2006/main">
              <a:ext uri="{FF2B5EF4-FFF2-40B4-BE49-F238E27FC236}">
                <a16:creationId xmlns:a16="http://schemas.microsoft.com/office/drawing/2014/main" id="{2F002B50-80AA-42CA-AD80-2BB2E22A724E}"/>
              </a:ext>
            </a:extLst>
          </p:cNvPr>
          <p:cNvSpPr>
            <a:spLocks xmlns:a="http://schemas.openxmlformats.org/drawingml/2006/main" noGrp="1"/>
          </p:cNvSpPr>
          <p:nvPr/>
        </p:nvSpPr>
        <p:spPr>
          <a:xfrm xmlns:a="http://schemas.openxmlformats.org/drawingml/2006/main">
            <a:off x="685800" y="567690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26775"/>
                </a:solidFill>
                <a:latin typeface="Noto Sans"/>
                <a:ea typeface="Noto Sans"/>
                <a:cs typeface="Noto Sans"/>
              </a:defRPr>
            </a:pPr>
            <a:r>
              <a:rPr sz="1950" b="0">
                <a:solidFill>
                  <a:srgbClr val="526775"/>
                </a:solidFill>
                <a:latin typeface="Noto Sans"/>
                <a:ea typeface="Noto Sans"/>
                <a:cs typeface="Noto Sans"/>
              </a:rPr>
              <a:t>View giúp bước đầu viết điều kiện lọc mà chưa phải xử lý hai JOIN.</a:t>
            </a:r>
          </a:p>
        </p:txBody>
      </p:sp>
      <p:sp>
        <p:nvSpPr>
          <p:cNvPr id="8" name="">
            <a:extLst xmlns:a="http://schemas.openxmlformats.org/drawingml/2006/main">
              <a:ext uri="{FF2B5EF4-FFF2-40B4-BE49-F238E27FC236}">
                <a16:creationId xmlns:a16="http://schemas.microsoft.com/office/drawing/2014/main" id="{94F476AD-0DE0-435E-9DED-6F8C11544D47}"/>
              </a:ext>
            </a:extLst>
          </p:cNvPr>
          <p:cNvSpPr>
            <a:spLocks xmlns:a="http://schemas.openxmlformats.org/drawingml/2006/main" noGrp="1"/>
          </p:cNvSpPr>
          <p:nvPr/>
        </p:nvSpPr>
        <p:spPr>
          <a:xfrm xmlns:a="http://schemas.openxmlformats.org/drawingml/2006/main">
            <a:off x="685800" y="6191250"/>
            <a:ext cx="971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775"/>
                </a:solidFill>
                <a:latin typeface="Noto Sans"/>
                <a:ea typeface="Noto Sans"/>
                <a:cs typeface="Noto Sans"/>
              </a:defRPr>
            </a:pPr>
            <a:r>
              <a:rPr sz="1350" b="0">
                <a:solidFill>
                  <a:srgbClr val="526775"/>
                </a:solidFill>
                <a:latin typeface="Noto Sans"/>
                <a:ea typeface="Noto Sans"/>
                <a:cs typeface="Noto Sans"/>
              </a:rPr>
              <a:t>Câu hỏi đã chỉnh theo điều kiện SQL trong Bảng 4.</a:t>
            </a:r>
          </a:p>
        </p:txBody>
      </p:sp>
    </p:spTree>
    <p:extLst>
      <p:ext uri="{BB962C8B-B14F-4D97-AF65-F5344CB8AC3E}">
        <p14:creationId xmlns:p14="http://schemas.microsoft.com/office/powerpoint/2010/main" val="1148415574"/>
      </p:ext>
    </p:extLst>
  </p:cSld>
</p:sld>
</file>

<file path=ppt/slides/slide6.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D8EAB18-E95C-4AE2-88F0-15B3F09782CB}"/>
              </a:ext>
            </a:extLst>
          </p:cNvPr>
          <p:cNvSpPr>
            <a:spLocks xmlns:a="http://schemas.openxmlformats.org/drawingml/2006/main" noGrp="1"/>
          </p:cNvSpPr>
          <p:nvPr/>
        </p:nvSpPr>
        <p:spPr>
          <a:xfrm xmlns:a="http://schemas.openxmlformats.org/drawingml/2006/main">
            <a:off x="685800" y="45720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32C3D"/>
                </a:solidFill>
                <a:latin typeface="Noto Sans"/>
                <a:ea typeface="Noto Sans"/>
                <a:cs typeface="Noto Sans"/>
              </a:defRPr>
            </a:pPr>
            <a:r>
              <a:rPr sz="3300" b="1">
                <a:solidFill>
                  <a:srgbClr val="132C3D"/>
                </a:solidFill>
                <a:latin typeface="Noto Sans"/>
                <a:ea typeface="Noto Sans"/>
                <a:cs typeface="Noto Sans"/>
              </a:rPr>
              <a:t>Kết quả tác giả báo cáo trên BIRD</a:t>
            </a:r>
          </a:p>
        </p:txBody>
      </p:sp>
      <p:sp>
        <p:nvSpPr>
          <p:cNvPr id="2" name="">
            <a:extLst xmlns:a="http://schemas.openxmlformats.org/drawingml/2006/main">
              <a:ext uri="{FF2B5EF4-FFF2-40B4-BE49-F238E27FC236}">
                <a16:creationId xmlns:a16="http://schemas.microsoft.com/office/drawing/2014/main" id="{C5FA1B54-4665-4C62-895C-3362D04D44A9}"/>
              </a:ext>
            </a:extLst>
          </p:cNvPr>
          <p:cNvSpPr>
            <a:spLocks xmlns:a="http://schemas.openxmlformats.org/drawingml/2006/main" noGrp="1"/>
          </p:cNvSpPr>
          <p:nvPr/>
        </p:nvSpPr>
        <p:spPr>
          <a:xfrm xmlns:a="http://schemas.openxmlformats.org/drawingml/2006/main">
            <a:off x="10763250" y="628650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775"/>
                </a:solidFill>
                <a:latin typeface="Noto Sans"/>
                <a:ea typeface="Noto Sans"/>
                <a:cs typeface="Noto Sans"/>
              </a:defRPr>
            </a:pPr>
            <a:r>
              <a:rPr sz="1350" b="0">
                <a:solidFill>
                  <a:srgbClr val="526775"/>
                </a:solidFill>
                <a:latin typeface="Noto Sans"/>
                <a:ea typeface="Noto Sans"/>
                <a:cs typeface="Noto Sans"/>
              </a:rPr>
              <a:t>6 / 10</a:t>
            </a:r>
          </a:p>
        </p:txBody>
      </p:sp>
      <p:sp>
        <p:nvSpPr>
          <p:cNvPr id="3" name="">
            <a:extLst xmlns:a="http://schemas.openxmlformats.org/drawingml/2006/main">
              <a:ext uri="{FF2B5EF4-FFF2-40B4-BE49-F238E27FC236}">
                <a16:creationId xmlns:a16="http://schemas.microsoft.com/office/drawing/2014/main" id="{B6F9B1C3-860C-48A7-A710-F91F0438BC17}"/>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775"/>
                </a:solidFill>
                <a:latin typeface="Noto Sans"/>
                <a:ea typeface="Noto Sans"/>
                <a:cs typeface="Noto Sans"/>
              </a:defRPr>
            </a:pPr>
            <a:r>
              <a:rPr sz="2025" b="0">
                <a:solidFill>
                  <a:srgbClr val="526775"/>
                </a:solidFill>
                <a:latin typeface="Noto Sans"/>
                <a:ea typeface="Noto Sans"/>
                <a:cs typeface="Noto Sans"/>
              </a:rPr>
              <a:t>500 câu hỏi, 11 DB. EX = tỷ lệ SQL trả về kết quả khớp SQL chuẩn.</a:t>
            </a:r>
          </a:p>
        </p:txBody>
      </p:sp>
      <p:graphicFrame>
        <p:nvGraphicFramePr>
          <p:cNvPr id="9" name=""/>
          <p:cNvGraphicFramePr/>
          <p:nvPr/>
        </p:nvGraphicFramePr>
        <p:xfrm>
          <a:off xmlns:a="http://schemas.openxmlformats.org/drawingml/2006/main" x="685800" y="2428875"/>
          <a:ext xmlns:a="http://schemas.openxmlformats.org/drawingml/2006/main" cx="10820400" cy="2762250"/>
        </p:xfrm>
        <a:graphic xmlns:a="http://schemas.openxmlformats.org/drawingml/2006/main">
          <a:graphicData uri="http://schemas.openxmlformats.org/drawingml/2006/table">
            <a:tbl>
              <a:tblPr/>
              <a:tblGrid>
                <a:gridCol w="2819400"/>
                <a:gridCol w="2381250"/>
                <a:gridCol w="2762250"/>
                <a:gridCol w="2857500"/>
              </a:tblGrid>
              <a:tr h="552450">
                <a:tc>
                  <a:txBody>
                    <a:bodyPr/>
                    <a:lstStyle/>
                    <a:p>
                      <a:r>
                        <a:rPr sz="1875" b="1">
                          <a:solidFill>
                            <a:srgbClr val="FFFFFF"/>
                          </a:solidFill>
                          <a:latin typeface="Noto Sans"/>
                          <a:ea typeface="Noto Sans"/>
                          <a:cs typeface="Noto Sans"/>
                        </a:rPr>
                        <a:t>EX tổng (%)</a:t>
                      </a:r>
                    </a:p>
                  </a:txBody>
                  <a:tcPr marL="91440" marR="91440" marT="45720" marB="45720">
                    <a:solidFill>
                      <a:srgbClr val="132C3D"/>
                    </a:solidFill>
                  </a:tcPr>
                </a:tc>
                <a:tc>
                  <a:txBody>
                    <a:bodyPr/>
                    <a:lstStyle/>
                    <a:p>
                      <a:r>
                        <a:rPr sz="1875" b="1">
                          <a:solidFill>
                            <a:srgbClr val="FFFFFF"/>
                          </a:solidFill>
                          <a:latin typeface="Noto Sans"/>
                          <a:ea typeface="Noto Sans"/>
                          <a:cs typeface="Noto Sans"/>
                        </a:rPr>
                        <a:t>GPT-4</a:t>
                      </a:r>
                    </a:p>
                  </a:txBody>
                  <a:tcPr marL="91440" marR="91440" marT="45720" marB="45720">
                    <a:solidFill>
                      <a:srgbClr val="132C3D"/>
                    </a:solidFill>
                  </a:tcPr>
                </a:tc>
                <a:tc>
                  <a:txBody>
                    <a:bodyPr/>
                    <a:lstStyle/>
                    <a:p>
                      <a:r>
                        <a:rPr sz="1875" b="1">
                          <a:solidFill>
                            <a:srgbClr val="FFFFFF"/>
                          </a:solidFill>
                          <a:latin typeface="Noto Sans"/>
                          <a:ea typeface="Noto Sans"/>
                          <a:cs typeface="Noto Sans"/>
                        </a:rPr>
                        <a:t>GPT-4 Turbo</a:t>
                      </a:r>
                    </a:p>
                  </a:txBody>
                  <a:tcPr marL="91440" marR="91440" marT="45720" marB="45720">
                    <a:solidFill>
                      <a:srgbClr val="132C3D"/>
                    </a:solidFill>
                  </a:tcPr>
                </a:tc>
                <a:tc>
                  <a:txBody>
                    <a:bodyPr/>
                    <a:lstStyle/>
                    <a:p>
                      <a:r>
                        <a:rPr sz="1875" b="1">
                          <a:solidFill>
                            <a:srgbClr val="FFFFFF"/>
                          </a:solidFill>
                          <a:latin typeface="Noto Sans"/>
                          <a:ea typeface="Noto Sans"/>
                          <a:cs typeface="Noto Sans"/>
                        </a:rPr>
                        <a:t>GPT-3.5 Turbo</a:t>
                      </a:r>
                    </a:p>
                  </a:txBody>
                  <a:tcPr marL="91440" marR="91440" marT="45720" marB="45720">
                    <a:solidFill>
                      <a:srgbClr val="132C3D"/>
                    </a:solidFill>
                  </a:tcPr>
                </a:tc>
              </a:tr>
              <a:tr h="552450">
                <a:tc>
                  <a:txBody>
                    <a:bodyPr/>
                    <a:lstStyle/>
                    <a:p>
                      <a:r>
                        <a:rPr sz="1875" b="0">
                          <a:solidFill>
                            <a:srgbClr val="132C3D"/>
                          </a:solidFill>
                          <a:latin typeface="Noto Sans"/>
                          <a:ea typeface="Noto Sans"/>
                          <a:cs typeface="Noto Sans"/>
                        </a:rPr>
                        <a:t>DIN-SQL</a:t>
                      </a:r>
                    </a:p>
                  </a:txBody>
                  <a:tcPr marL="91440" marR="91440" marT="45720" marB="45720">
                    <a:solidFill>
                      <a:srgbClr val="F7F7F2"/>
                    </a:solidFill>
                  </a:tcPr>
                </a:tc>
                <a:tc>
                  <a:txBody>
                    <a:bodyPr/>
                    <a:lstStyle/>
                    <a:p>
                      <a:r>
                        <a:rPr sz="1875" b="0">
                          <a:solidFill>
                            <a:srgbClr val="132C3D"/>
                          </a:solidFill>
                          <a:latin typeface="Noto Sans"/>
                          <a:ea typeface="Noto Sans"/>
                          <a:cs typeface="Noto Sans"/>
                        </a:rPr>
                        <a:t>47,20</a:t>
                      </a:r>
                    </a:p>
                  </a:txBody>
                  <a:tcPr marL="91440" marR="91440" marT="45720" marB="45720">
                    <a:solidFill>
                      <a:srgbClr val="F7F7F2"/>
                    </a:solidFill>
                  </a:tcPr>
                </a:tc>
                <a:tc>
                  <a:txBody>
                    <a:bodyPr/>
                    <a:lstStyle/>
                    <a:p>
                      <a:r>
                        <a:rPr sz="1875" b="0">
                          <a:solidFill>
                            <a:srgbClr val="132C3D"/>
                          </a:solidFill>
                          <a:latin typeface="Noto Sans"/>
                          <a:ea typeface="Noto Sans"/>
                          <a:cs typeface="Noto Sans"/>
                        </a:rPr>
                        <a:t>47,80</a:t>
                      </a:r>
                    </a:p>
                  </a:txBody>
                  <a:tcPr marL="91440" marR="91440" marT="45720" marB="45720">
                    <a:solidFill>
                      <a:srgbClr val="F7F7F2"/>
                    </a:solidFill>
                  </a:tcPr>
                </a:tc>
                <a:tc>
                  <a:txBody>
                    <a:bodyPr/>
                    <a:lstStyle/>
                    <a:p>
                      <a:r>
                        <a:rPr sz="1875" b="0">
                          <a:solidFill>
                            <a:srgbClr val="132C3D"/>
                          </a:solidFill>
                          <a:latin typeface="Noto Sans"/>
                          <a:ea typeface="Noto Sans"/>
                          <a:cs typeface="Noto Sans"/>
                        </a:rPr>
                        <a:t>39,20</a:t>
                      </a:r>
                    </a:p>
                  </a:txBody>
                  <a:tcPr marL="91440" marR="91440" marT="45720" marB="45720">
                    <a:solidFill>
                      <a:srgbClr val="F7F7F2"/>
                    </a:solidFill>
                  </a:tcPr>
                </a:tc>
              </a:tr>
              <a:tr h="552450">
                <a:tc>
                  <a:txBody>
                    <a:bodyPr/>
                    <a:lstStyle/>
                    <a:p>
                      <a:r>
                        <a:rPr sz="1875" b="0">
                          <a:solidFill>
                            <a:srgbClr val="132C3D"/>
                          </a:solidFill>
                          <a:latin typeface="Noto Sans"/>
                          <a:ea typeface="Noto Sans"/>
                          <a:cs typeface="Noto Sans"/>
                        </a:rPr>
                        <a:t>DAIL-SQL</a:t>
                      </a:r>
                    </a:p>
                  </a:txBody>
                  <a:tcPr marL="91440" marR="91440" marT="45720" marB="45720">
                    <a:solidFill>
                      <a:srgbClr val="F7F7F2"/>
                    </a:solidFill>
                  </a:tcPr>
                </a:tc>
                <a:tc>
                  <a:txBody>
                    <a:bodyPr/>
                    <a:lstStyle/>
                    <a:p>
                      <a:r>
                        <a:rPr sz="1875" b="0">
                          <a:solidFill>
                            <a:srgbClr val="132C3D"/>
                          </a:solidFill>
                          <a:latin typeface="Noto Sans"/>
                          <a:ea typeface="Noto Sans"/>
                          <a:cs typeface="Noto Sans"/>
                        </a:rPr>
                        <a:t>49,00</a:t>
                      </a:r>
                    </a:p>
                  </a:txBody>
                  <a:tcPr marL="91440" marR="91440" marT="45720" marB="45720">
                    <a:solidFill>
                      <a:srgbClr val="F7F7F2"/>
                    </a:solidFill>
                  </a:tcPr>
                </a:tc>
                <a:tc>
                  <a:txBody>
                    <a:bodyPr/>
                    <a:lstStyle/>
                    <a:p>
                      <a:r>
                        <a:rPr sz="1875" b="0">
                          <a:solidFill>
                            <a:srgbClr val="132C3D"/>
                          </a:solidFill>
                          <a:latin typeface="Noto Sans"/>
                          <a:ea typeface="Noto Sans"/>
                          <a:cs typeface="Noto Sans"/>
                        </a:rPr>
                        <a:t>48,80</a:t>
                      </a:r>
                    </a:p>
                  </a:txBody>
                  <a:tcPr marL="91440" marR="91440" marT="45720" marB="45720">
                    <a:solidFill>
                      <a:srgbClr val="F7F7F2"/>
                    </a:solidFill>
                  </a:tcPr>
                </a:tc>
                <a:tc>
                  <a:txBody>
                    <a:bodyPr/>
                    <a:lstStyle/>
                    <a:p>
                      <a:r>
                        <a:rPr sz="1875" b="0">
                          <a:solidFill>
                            <a:srgbClr val="132C3D"/>
                          </a:solidFill>
                          <a:latin typeface="Noto Sans"/>
                          <a:ea typeface="Noto Sans"/>
                          <a:cs typeface="Noto Sans"/>
                        </a:rPr>
                        <a:t>42,00</a:t>
                      </a:r>
                    </a:p>
                  </a:txBody>
                  <a:tcPr marL="91440" marR="91440" marT="45720" marB="45720">
                    <a:solidFill>
                      <a:srgbClr val="F7F7F2"/>
                    </a:solidFill>
                  </a:tcPr>
                </a:tc>
              </a:tr>
              <a:tr h="552450">
                <a:tc>
                  <a:txBody>
                    <a:bodyPr/>
                    <a:lstStyle/>
                    <a:p>
                      <a:r>
                        <a:rPr sz="1875" b="0">
                          <a:solidFill>
                            <a:srgbClr val="132C3D"/>
                          </a:solidFill>
                          <a:latin typeface="Noto Sans"/>
                          <a:ea typeface="Noto Sans"/>
                          <a:cs typeface="Noto Sans"/>
                        </a:rPr>
                        <a:t>TA-SQL</a:t>
                      </a:r>
                    </a:p>
                  </a:txBody>
                  <a:tcPr marL="91440" marR="91440" marT="45720" marB="45720">
                    <a:solidFill>
                      <a:srgbClr val="F7F7F2"/>
                    </a:solidFill>
                  </a:tcPr>
                </a:tc>
                <a:tc>
                  <a:txBody>
                    <a:bodyPr/>
                    <a:lstStyle/>
                    <a:p>
                      <a:r>
                        <a:rPr sz="1875" b="0">
                          <a:solidFill>
                            <a:srgbClr val="132C3D"/>
                          </a:solidFill>
                          <a:latin typeface="Noto Sans"/>
                          <a:ea typeface="Noto Sans"/>
                          <a:cs typeface="Noto Sans"/>
                        </a:rPr>
                        <a:t>56,17</a:t>
                      </a:r>
                    </a:p>
                  </a:txBody>
                  <a:tcPr marL="91440" marR="91440" marT="45720" marB="45720">
                    <a:solidFill>
                      <a:srgbClr val="F7F7F2"/>
                    </a:solidFill>
                  </a:tcPr>
                </a:tc>
                <a:tc>
                  <a:txBody>
                    <a:bodyPr/>
                    <a:lstStyle/>
                    <a:p>
                      <a:r>
                        <a:rPr sz="1875" b="0">
                          <a:solidFill>
                            <a:srgbClr val="132C3D"/>
                          </a:solidFill>
                          <a:latin typeface="Noto Sans"/>
                          <a:ea typeface="Noto Sans"/>
                          <a:cs typeface="Noto Sans"/>
                        </a:rPr>
                        <a:t>50,16</a:t>
                      </a:r>
                    </a:p>
                  </a:txBody>
                  <a:tcPr marL="91440" marR="91440" marT="45720" marB="45720">
                    <a:solidFill>
                      <a:srgbClr val="F7F7F2"/>
                    </a:solidFill>
                  </a:tcPr>
                </a:tc>
                <a:tc>
                  <a:txBody>
                    <a:bodyPr/>
                    <a:lstStyle/>
                    <a:p>
                      <a:r>
                        <a:rPr sz="1875" b="0">
                          <a:solidFill>
                            <a:srgbClr val="132C3D"/>
                          </a:solidFill>
                          <a:latin typeface="Noto Sans"/>
                          <a:ea typeface="Noto Sans"/>
                          <a:cs typeface="Noto Sans"/>
                        </a:rPr>
                        <a:t>43,80</a:t>
                      </a:r>
                    </a:p>
                  </a:txBody>
                  <a:tcPr marL="91440" marR="91440" marT="45720" marB="45720">
                    <a:solidFill>
                      <a:srgbClr val="F7F7F2"/>
                    </a:solidFill>
                  </a:tcPr>
                </a:tc>
              </a:tr>
              <a:tr h="552450">
                <a:tc>
                  <a:txBody>
                    <a:bodyPr/>
                    <a:lstStyle/>
                    <a:p>
                      <a:r>
                        <a:rPr sz="1875" b="1">
                          <a:solidFill>
                            <a:srgbClr val="132C3D"/>
                          </a:solidFill>
                          <a:latin typeface="Noto Sans"/>
                          <a:ea typeface="Noto Sans"/>
                          <a:cs typeface="Noto Sans"/>
                        </a:rPr>
                        <a:t>V-SQL</a:t>
                      </a:r>
                    </a:p>
                  </a:txBody>
                  <a:tcPr marL="91440" marR="91440" marT="45720" marB="45720">
                    <a:solidFill>
                      <a:srgbClr val="E4F0ED"/>
                    </a:solidFill>
                  </a:tcPr>
                </a:tc>
                <a:tc>
                  <a:txBody>
                    <a:bodyPr/>
                    <a:lstStyle/>
                    <a:p>
                      <a:r>
                        <a:rPr sz="1875" b="1">
                          <a:solidFill>
                            <a:srgbClr val="132C3D"/>
                          </a:solidFill>
                          <a:latin typeface="Noto Sans"/>
                          <a:ea typeface="Noto Sans"/>
                          <a:cs typeface="Noto Sans"/>
                        </a:rPr>
                        <a:t>56,00</a:t>
                      </a:r>
                    </a:p>
                  </a:txBody>
                  <a:tcPr marL="91440" marR="91440" marT="45720" marB="45720">
                    <a:solidFill>
                      <a:srgbClr val="E4F0ED"/>
                    </a:solidFill>
                  </a:tcPr>
                </a:tc>
                <a:tc>
                  <a:txBody>
                    <a:bodyPr/>
                    <a:lstStyle/>
                    <a:p>
                      <a:r>
                        <a:rPr sz="1875" b="1">
                          <a:solidFill>
                            <a:srgbClr val="132C3D"/>
                          </a:solidFill>
                          <a:latin typeface="Noto Sans"/>
                          <a:ea typeface="Noto Sans"/>
                          <a:cs typeface="Noto Sans"/>
                        </a:rPr>
                        <a:t>52,80</a:t>
                      </a:r>
                    </a:p>
                  </a:txBody>
                  <a:tcPr marL="91440" marR="91440" marT="45720" marB="45720">
                    <a:solidFill>
                      <a:srgbClr val="E4F0ED"/>
                    </a:solidFill>
                  </a:tcPr>
                </a:tc>
                <a:tc>
                  <a:txBody>
                    <a:bodyPr/>
                    <a:lstStyle/>
                    <a:p>
                      <a:r>
                        <a:rPr sz="1875" b="1">
                          <a:solidFill>
                            <a:srgbClr val="132C3D"/>
                          </a:solidFill>
                          <a:latin typeface="Noto Sans"/>
                          <a:ea typeface="Noto Sans"/>
                          <a:cs typeface="Noto Sans"/>
                        </a:rPr>
                        <a:t>45,40</a:t>
                      </a:r>
                    </a:p>
                  </a:txBody>
                  <a:tcPr marL="91440" marR="91440" marT="45720" marB="45720">
                    <a:solidFill>
                      <a:srgbClr val="E4F0ED"/>
                    </a:solidFill>
                  </a:tcPr>
                </a:tc>
              </a:tr>
            </a:tbl>
          </a:graphicData>
        </a:graphic>
      </p:graphicFrame>
      <p:sp>
        <p:nvSpPr>
          <p:cNvPr id="5" name="">
            <a:extLst xmlns:a="http://schemas.openxmlformats.org/drawingml/2006/main">
              <a:ext uri="{FF2B5EF4-FFF2-40B4-BE49-F238E27FC236}">
                <a16:creationId xmlns:a16="http://schemas.microsoft.com/office/drawing/2014/main" id="{D6139E41-D851-4C5A-8084-DBCB0DCDC82F}"/>
              </a:ext>
            </a:extLst>
          </p:cNvPr>
          <p:cNvSpPr>
            <a:spLocks xmlns:a="http://schemas.openxmlformats.org/drawingml/2006/main" noGrp="1"/>
          </p:cNvSpPr>
          <p:nvPr/>
        </p:nvSpPr>
        <p:spPr>
          <a:xfrm xmlns:a="http://schemas.openxmlformats.org/drawingml/2006/main">
            <a:off x="685800" y="5505450"/>
            <a:ext cx="108204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E80"/>
                </a:solidFill>
                <a:latin typeface="Noto Sans"/>
                <a:ea typeface="Noto Sans"/>
                <a:cs typeface="Noto Sans"/>
              </a:defRPr>
            </a:pPr>
            <a:r>
              <a:rPr sz="2025" b="1">
                <a:solidFill>
                  <a:srgbClr val="007E80"/>
                </a:solidFill>
                <a:latin typeface="Noto Sans"/>
                <a:ea typeface="Noto Sans"/>
                <a:cs typeface="Noto Sans"/>
              </a:rPr>
              <a:t>So với TA-SQL: +2,64 điểm % trên GPT-4 Turbo,</a:t>
            </a:r>
          </a:p>
          <a:p xmlns:a="http://schemas.openxmlformats.org/drawingml/2006/main">
            <a:pPr>
              <a:defRPr sz="2025" b="1">
                <a:solidFill>
                  <a:srgbClr val="007E80"/>
                </a:solidFill>
                <a:latin typeface="Noto Sans"/>
                <a:ea typeface="Noto Sans"/>
                <a:cs typeface="Noto Sans"/>
              </a:defRPr>
            </a:pPr>
            <a:r>
              <a:rPr sz="2025" b="1">
                <a:solidFill>
                  <a:srgbClr val="007E80"/>
                </a:solidFill>
                <a:latin typeface="Noto Sans"/>
                <a:ea typeface="Noto Sans"/>
                <a:cs typeface="Noto Sans"/>
              </a:rPr>
              <a:t>+1,60 điểm % trên GPT-3.5 Turbo, −0,17 điểm % trên GPT-4.</a:t>
            </a:r>
          </a:p>
        </p:txBody>
      </p:sp>
    </p:spTree>
    <p:extLst>
      <p:ext uri="{BB962C8B-B14F-4D97-AF65-F5344CB8AC3E}">
        <p14:creationId xmlns:p14="http://schemas.microsoft.com/office/powerpoint/2010/main" val="26027031"/>
      </p:ext>
    </p:extLst>
  </p:cSld>
</p:sld>
</file>

<file path=ppt/slides/slide7.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58D63D2-85FD-4C8A-9FE6-14BBA606EC25}"/>
              </a:ext>
            </a:extLst>
          </p:cNvPr>
          <p:cNvSpPr>
            <a:spLocks xmlns:a="http://schemas.openxmlformats.org/drawingml/2006/main" noGrp="1"/>
          </p:cNvSpPr>
          <p:nvPr/>
        </p:nvSpPr>
        <p:spPr>
          <a:xfrm xmlns:a="http://schemas.openxmlformats.org/drawingml/2006/main">
            <a:off x="685800" y="45720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32C3D"/>
                </a:solidFill>
                <a:latin typeface="Noto Sans"/>
                <a:ea typeface="Noto Sans"/>
                <a:cs typeface="Noto Sans"/>
              </a:defRPr>
            </a:pPr>
            <a:r>
              <a:rPr sz="3300" b="1">
                <a:solidFill>
                  <a:srgbClr val="132C3D"/>
                </a:solidFill>
                <a:latin typeface="Noto Sans"/>
                <a:ea typeface="Noto Sans"/>
                <a:cs typeface="Noto Sans"/>
              </a:rPr>
              <a:t>Hạn chế bài báo và phần đồ án mở rộng</a:t>
            </a:r>
          </a:p>
        </p:txBody>
      </p:sp>
      <p:sp>
        <p:nvSpPr>
          <p:cNvPr id="2" name="">
            <a:extLst xmlns:a="http://schemas.openxmlformats.org/drawingml/2006/main">
              <a:ext uri="{FF2B5EF4-FFF2-40B4-BE49-F238E27FC236}">
                <a16:creationId xmlns:a16="http://schemas.microsoft.com/office/drawing/2014/main" id="{5CED98D5-98A0-4E0E-B366-068B30DA7174}"/>
              </a:ext>
            </a:extLst>
          </p:cNvPr>
          <p:cNvSpPr>
            <a:spLocks xmlns:a="http://schemas.openxmlformats.org/drawingml/2006/main" noGrp="1"/>
          </p:cNvSpPr>
          <p:nvPr/>
        </p:nvSpPr>
        <p:spPr>
          <a:xfrm xmlns:a="http://schemas.openxmlformats.org/drawingml/2006/main">
            <a:off x="10763250" y="628650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775"/>
                </a:solidFill>
                <a:latin typeface="Noto Sans"/>
                <a:ea typeface="Noto Sans"/>
                <a:cs typeface="Noto Sans"/>
              </a:defRPr>
            </a:pPr>
            <a:r>
              <a:rPr sz="1350" b="0">
                <a:solidFill>
                  <a:srgbClr val="526775"/>
                </a:solidFill>
                <a:latin typeface="Noto Sans"/>
                <a:ea typeface="Noto Sans"/>
                <a:cs typeface="Noto Sans"/>
              </a:rPr>
              <a:t>7 / 10</a:t>
            </a:r>
          </a:p>
        </p:txBody>
      </p:sp>
      <p:sp>
        <p:nvSpPr>
          <p:cNvPr id="3" name="">
            <a:extLst xmlns:a="http://schemas.openxmlformats.org/drawingml/2006/main">
              <a:ext uri="{FF2B5EF4-FFF2-40B4-BE49-F238E27FC236}">
                <a16:creationId xmlns:a16="http://schemas.microsoft.com/office/drawing/2014/main" id="{197ADAD2-99CB-4E35-A507-E3A687F24AD7}"/>
              </a:ext>
            </a:extLst>
          </p:cNvPr>
          <p:cNvSpPr>
            <a:spLocks xmlns:a="http://schemas.openxmlformats.org/drawingml/2006/main" noGrp="1"/>
          </p:cNvSpPr>
          <p:nvPr/>
        </p:nvSpPr>
        <p:spPr>
          <a:xfrm xmlns:a="http://schemas.openxmlformats.org/drawingml/2006/main">
            <a:off x="685800" y="167640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E80"/>
                </a:solidFill>
                <a:latin typeface="Noto Sans"/>
                <a:ea typeface="Noto Sans"/>
                <a:cs typeface="Noto Sans"/>
              </a:defRPr>
            </a:pPr>
            <a:r>
              <a:rPr sz="2250" b="1">
                <a:solidFill>
                  <a:srgbClr val="007E80"/>
                </a:solidFill>
                <a:latin typeface="Noto Sans"/>
                <a:ea typeface="Noto Sans"/>
                <a:cs typeface="Noto Sans"/>
              </a:rPr>
              <a:t>Bài báo còn hạn chế</a:t>
            </a:r>
          </a:p>
        </p:txBody>
      </p:sp>
      <p:sp>
        <p:nvSpPr>
          <p:cNvPr id="4" name="">
            <a:extLst xmlns:a="http://schemas.openxmlformats.org/drawingml/2006/main">
              <a:ext uri="{FF2B5EF4-FFF2-40B4-BE49-F238E27FC236}">
                <a16:creationId xmlns:a16="http://schemas.microsoft.com/office/drawing/2014/main" id="{B0F7A6A8-C574-4232-97B0-EABCFF81346A}"/>
              </a:ext>
            </a:extLst>
          </p:cNvPr>
          <p:cNvSpPr>
            <a:spLocks xmlns:a="http://schemas.openxmlformats.org/drawingml/2006/main" noGrp="1"/>
          </p:cNvSpPr>
          <p:nvPr/>
        </p:nvSpPr>
        <p:spPr>
          <a:xfrm xmlns:a="http://schemas.openxmlformats.org/drawingml/2006/main">
            <a:off x="685800" y="2238375"/>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32C3D"/>
                </a:solidFill>
                <a:latin typeface="Noto Sans"/>
                <a:ea typeface="Noto Sans"/>
                <a:cs typeface="Noto Sans"/>
              </a:defRPr>
            </a:pPr>
            <a:r>
              <a:rPr sz="2325" b="0">
                <a:solidFill>
                  <a:srgbClr val="132C3D"/>
                </a:solidFill>
                <a:latin typeface="Noto Sans"/>
                <a:ea typeface="Noto Sans"/>
                <a:cs typeface="Noto Sans"/>
              </a:rPr>
              <a:t>View thiết kế thủ công, tham khảo JOIN trong SQL chuẩn.</a:t>
            </a:r>
          </a:p>
          <a:p xmlns:a="http://schemas.openxmlformats.org/drawingml/2006/main">
            <a:pPr>
              <a:defRPr sz="2325" b="0">
                <a:solidFill>
                  <a:srgbClr val="132C3D"/>
                </a:solidFill>
                <a:latin typeface="Noto Sans"/>
                <a:ea typeface="Noto Sans"/>
                <a:cs typeface="Noto Sans"/>
              </a:defRPr>
            </a:pPr>
            <a:r>
              <a:rPr sz="2325" b="0">
                <a:solidFill>
                  <a:srgbClr val="132C3D"/>
                </a:solidFill>
                <a:latin typeface="Noto Sans"/>
                <a:ea typeface="Noto Sans"/>
                <a:cs typeface="Noto Sans"/>
              </a:rPr>
              <a:t>Tạo nhiều view hơn chưa chắc giúp chọn đúng view.</a:t>
            </a:r>
          </a:p>
        </p:txBody>
      </p:sp>
      <p:sp>
        <p:nvSpPr>
          <p:cNvPr id="5" name="">
            <a:extLst xmlns:a="http://schemas.openxmlformats.org/drawingml/2006/main">
              <a:ext uri="{FF2B5EF4-FFF2-40B4-BE49-F238E27FC236}">
                <a16:creationId xmlns:a16="http://schemas.microsoft.com/office/drawing/2014/main" id="{6F322A40-4B1F-4713-AD3A-0E8DE8E1365D}"/>
              </a:ext>
            </a:extLst>
          </p:cNvPr>
          <p:cNvSpPr>
            <a:spLocks xmlns:a="http://schemas.openxmlformats.org/drawingml/2006/main" noGrp="1"/>
          </p:cNvSpPr>
          <p:nvPr/>
        </p:nvSpPr>
        <p:spPr>
          <a:xfrm xmlns:a="http://schemas.openxmlformats.org/drawingml/2006/main">
            <a:off x="685800" y="3743325"/>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E80"/>
                </a:solidFill>
                <a:latin typeface="Noto Sans"/>
                <a:ea typeface="Noto Sans"/>
                <a:cs typeface="Noto Sans"/>
              </a:defRPr>
            </a:pPr>
            <a:r>
              <a:rPr sz="2250" b="1">
                <a:solidFill>
                  <a:srgbClr val="007E80"/>
                </a:solidFill>
                <a:latin typeface="Noto Sans"/>
                <a:ea typeface="Noto Sans"/>
                <a:cs typeface="Noto Sans"/>
              </a:rPr>
              <a:t>Đồ án đề xuất Auto-V-SQL</a:t>
            </a:r>
          </a:p>
        </p:txBody>
      </p:sp>
      <p:sp>
        <p:nvSpPr>
          <p:cNvPr id="6" name="">
            <a:extLst xmlns:a="http://schemas.openxmlformats.org/drawingml/2006/main">
              <a:ext uri="{FF2B5EF4-FFF2-40B4-BE49-F238E27FC236}">
                <a16:creationId xmlns:a16="http://schemas.microsoft.com/office/drawing/2014/main" id="{0C2322DA-137C-4879-BAD2-CA63F431F0E5}"/>
              </a:ext>
            </a:extLst>
          </p:cNvPr>
          <p:cNvSpPr>
            <a:spLocks xmlns:a="http://schemas.openxmlformats.org/drawingml/2006/main" noGrp="1"/>
          </p:cNvSpPr>
          <p:nvPr/>
        </p:nvSpPr>
        <p:spPr>
          <a:xfrm xmlns:a="http://schemas.openxmlformats.org/drawingml/2006/main">
            <a:off x="685800" y="4295775"/>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32C3D"/>
                </a:solidFill>
                <a:latin typeface="Noto Sans"/>
                <a:ea typeface="Noto Sans"/>
                <a:cs typeface="Noto Sans"/>
              </a:defRPr>
            </a:pPr>
            <a:r>
              <a:rPr sz="2250" b="0">
                <a:solidFill>
                  <a:srgbClr val="132C3D"/>
                </a:solidFill>
                <a:latin typeface="Noto Sans"/>
                <a:ea typeface="Noto Sans"/>
                <a:cs typeface="Noto Sans"/>
              </a:rPr>
              <a:t>Python đọc metadata khóa ngoại SQLite để tự sinh view.</a:t>
            </a:r>
          </a:p>
          <a:p xmlns:a="http://schemas.openxmlformats.org/drawingml/2006/main">
            <a:pPr>
              <a:defRPr sz="2250" b="0">
                <a:solidFill>
                  <a:srgbClr val="132C3D"/>
                </a:solidFill>
                <a:latin typeface="Noto Sans"/>
                <a:ea typeface="Noto Sans"/>
                <a:cs typeface="Noto Sans"/>
              </a:defRPr>
            </a:pPr>
            <a:r>
              <a:rPr sz="2250" b="0">
                <a:solidFill>
                  <a:srgbClr val="132C3D"/>
                </a:solidFill>
                <a:latin typeface="Noto Sans"/>
                <a:ea typeface="Noto Sans"/>
                <a:cs typeface="Noto Sans"/>
              </a:rPr>
              <a:t>Ghép bảng đích có tối đa 4 cột bằng LEFT JOIN.</a:t>
            </a:r>
          </a:p>
        </p:txBody>
      </p:sp>
      <p:sp>
        <p:nvSpPr>
          <p:cNvPr id="7" name="">
            <a:extLst xmlns:a="http://schemas.openxmlformats.org/drawingml/2006/main">
              <a:ext uri="{FF2B5EF4-FFF2-40B4-BE49-F238E27FC236}">
                <a16:creationId xmlns:a16="http://schemas.microsoft.com/office/drawing/2014/main" id="{0D7C18C6-D718-486E-B7E5-FFD75571B4FC}"/>
              </a:ext>
            </a:extLst>
          </p:cNvPr>
          <p:cNvSpPr>
            <a:spLocks xmlns:a="http://schemas.openxmlformats.org/drawingml/2006/main" noGrp="1"/>
          </p:cNvSpPr>
          <p:nvPr/>
        </p:nvSpPr>
        <p:spPr>
          <a:xfrm xmlns:a="http://schemas.openxmlformats.org/drawingml/2006/main">
            <a:off x="685800" y="57816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26775"/>
                </a:solidFill>
                <a:latin typeface="Noto Sans"/>
                <a:ea typeface="Noto Sans"/>
                <a:cs typeface="Noto Sans"/>
              </a:defRPr>
            </a:pPr>
            <a:r>
              <a:rPr sz="1950" b="0">
                <a:solidFill>
                  <a:srgbClr val="526775"/>
                </a:solidFill>
                <a:latin typeface="Noto Sans"/>
                <a:ea typeface="Noto Sans"/>
                <a:cs typeface="Noto Sans"/>
              </a:rPr>
              <a:t>Giữ hai giai đoạn sinh SQL của V-SQL. Khâu tạo view chỉ dùng metadata.</a:t>
            </a:r>
          </a:p>
        </p:txBody>
      </p:sp>
    </p:spTree>
    <p:extLst>
      <p:ext uri="{BB962C8B-B14F-4D97-AF65-F5344CB8AC3E}">
        <p14:creationId xmlns:p14="http://schemas.microsoft.com/office/powerpoint/2010/main" val="1452725542"/>
      </p:ext>
    </p:extLst>
  </p:cSld>
</p:sld>
</file>

<file path=ppt/slides/slide8.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076E314-B903-4644-92EA-61C7BB8B7D75}"/>
              </a:ext>
            </a:extLst>
          </p:cNvPr>
          <p:cNvSpPr>
            <a:spLocks xmlns:a="http://schemas.openxmlformats.org/drawingml/2006/main" noGrp="1"/>
          </p:cNvSpPr>
          <p:nvPr/>
        </p:nvSpPr>
        <p:spPr>
          <a:xfrm xmlns:a="http://schemas.openxmlformats.org/drawingml/2006/main">
            <a:off x="685800" y="45720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32C3D"/>
                </a:solidFill>
                <a:latin typeface="Noto Sans"/>
                <a:ea typeface="Noto Sans"/>
                <a:cs typeface="Noto Sans"/>
              </a:defRPr>
            </a:pPr>
            <a:r>
              <a:rPr sz="3300" b="1">
                <a:solidFill>
                  <a:srgbClr val="132C3D"/>
                </a:solidFill>
                <a:latin typeface="Noto Sans"/>
                <a:ea typeface="Noto Sans"/>
                <a:cs typeface="Noto Sans"/>
              </a:rPr>
              <a:t>Thiết lập thực nghiệm của tôi</a:t>
            </a:r>
          </a:p>
        </p:txBody>
      </p:sp>
      <p:sp>
        <p:nvSpPr>
          <p:cNvPr id="2" name="">
            <a:extLst xmlns:a="http://schemas.openxmlformats.org/drawingml/2006/main">
              <a:ext uri="{FF2B5EF4-FFF2-40B4-BE49-F238E27FC236}">
                <a16:creationId xmlns:a16="http://schemas.microsoft.com/office/drawing/2014/main" id="{3475473E-3551-4272-9640-0994B2D61912}"/>
              </a:ext>
            </a:extLst>
          </p:cNvPr>
          <p:cNvSpPr>
            <a:spLocks xmlns:a="http://schemas.openxmlformats.org/drawingml/2006/main" noGrp="1"/>
          </p:cNvSpPr>
          <p:nvPr/>
        </p:nvSpPr>
        <p:spPr>
          <a:xfrm xmlns:a="http://schemas.openxmlformats.org/drawingml/2006/main">
            <a:off x="10763250" y="628650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775"/>
                </a:solidFill>
                <a:latin typeface="Noto Sans"/>
                <a:ea typeface="Noto Sans"/>
                <a:cs typeface="Noto Sans"/>
              </a:defRPr>
            </a:pPr>
            <a:r>
              <a:rPr sz="1350" b="0">
                <a:solidFill>
                  <a:srgbClr val="526775"/>
                </a:solidFill>
                <a:latin typeface="Noto Sans"/>
                <a:ea typeface="Noto Sans"/>
                <a:cs typeface="Noto Sans"/>
              </a:rPr>
              <a:t>8 / 10</a:t>
            </a:r>
          </a:p>
        </p:txBody>
      </p:sp>
      <p:sp>
        <p:nvSpPr>
          <p:cNvPr id="3" name="">
            <a:extLst xmlns:a="http://schemas.openxmlformats.org/drawingml/2006/main">
              <a:ext uri="{FF2B5EF4-FFF2-40B4-BE49-F238E27FC236}">
                <a16:creationId xmlns:a16="http://schemas.microsoft.com/office/drawing/2014/main" id="{1943CDB0-71DE-428B-A40C-1633DE1374B3}"/>
              </a:ext>
            </a:extLst>
          </p:cNvPr>
          <p:cNvSpPr>
            <a:spLocks xmlns:a="http://schemas.openxmlformats.org/drawingml/2006/main" noGrp="1"/>
          </p:cNvSpPr>
          <p:nvPr/>
        </p:nvSpPr>
        <p:spPr>
          <a:xfrm xmlns:a="http://schemas.openxmlformats.org/drawingml/2006/main">
            <a:off x="685800" y="16764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125" b="1">
                <a:solidFill>
                  <a:srgbClr val="007E80"/>
                </a:solidFill>
                <a:latin typeface="Noto Sans"/>
                <a:ea typeface="Noto Sans"/>
                <a:cs typeface="Noto Sans"/>
              </a:defRPr>
            </a:pPr>
            <a:r>
              <a:rPr sz="4125" b="1">
                <a:solidFill>
                  <a:srgbClr val="007E80"/>
                </a:solidFill>
                <a:latin typeface="Noto Sans"/>
                <a:ea typeface="Noto Sans"/>
                <a:cs typeface="Noto Sans"/>
              </a:rPr>
              <a:t>52 câu hỏi trên Superhero</a:t>
            </a:r>
          </a:p>
        </p:txBody>
      </p:sp>
      <p:sp>
        <p:nvSpPr>
          <p:cNvPr id="4" name="">
            <a:extLst xmlns:a="http://schemas.openxmlformats.org/drawingml/2006/main">
              <a:ext uri="{FF2B5EF4-FFF2-40B4-BE49-F238E27FC236}">
                <a16:creationId xmlns:a16="http://schemas.microsoft.com/office/drawing/2014/main" id="{C5E81265-4B14-411E-B4E5-B08A000268EA}"/>
              </a:ext>
            </a:extLst>
          </p:cNvPr>
          <p:cNvSpPr>
            <a:spLocks xmlns:a="http://schemas.openxmlformats.org/drawingml/2006/main" noGrp="1"/>
          </p:cNvSpPr>
          <p:nvPr/>
        </p:nvSpPr>
        <p:spPr>
          <a:xfrm xmlns:a="http://schemas.openxmlformats.org/drawingml/2006/main">
            <a:off x="685800" y="2676525"/>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32C3D"/>
                </a:solidFill>
                <a:latin typeface="Noto Sans"/>
                <a:ea typeface="Noto Sans"/>
                <a:cs typeface="Noto Sans"/>
              </a:defRPr>
            </a:pPr>
            <a:r>
              <a:rPr sz="2250" b="0">
                <a:solidFill>
                  <a:srgbClr val="132C3D"/>
                </a:solidFill>
                <a:latin typeface="Noto Sans"/>
                <a:ea typeface="Noto Sans"/>
                <a:cs typeface="Noto Sans"/>
              </a:rPr>
              <a:t>14 câu đơn giản, 26 câu trung bình, 12 câu khó</a:t>
            </a:r>
          </a:p>
        </p:txBody>
      </p:sp>
      <p:sp>
        <p:nvSpPr>
          <p:cNvPr id="5" name="">
            <a:extLst xmlns:a="http://schemas.openxmlformats.org/drawingml/2006/main">
              <a:ext uri="{FF2B5EF4-FFF2-40B4-BE49-F238E27FC236}">
                <a16:creationId xmlns:a16="http://schemas.microsoft.com/office/drawing/2014/main" id="{5EA57F4D-A34D-438B-8ABC-27363C1C36F2}"/>
              </a:ext>
            </a:extLst>
          </p:cNvPr>
          <p:cNvSpPr>
            <a:spLocks xmlns:a="http://schemas.openxmlformats.org/drawingml/2006/main" noGrp="1"/>
          </p:cNvSpPr>
          <p:nvPr/>
        </p:nvSpPr>
        <p:spPr>
          <a:xfrm xmlns:a="http://schemas.openxmlformats.org/drawingml/2006/main">
            <a:off x="685800" y="3676650"/>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32C3D"/>
                </a:solidFill>
                <a:latin typeface="Noto Sans"/>
                <a:ea typeface="Noto Sans"/>
                <a:cs typeface="Noto Sans"/>
              </a:defRPr>
            </a:pPr>
            <a:r>
              <a:rPr sz="2175" b="1">
                <a:solidFill>
                  <a:srgbClr val="132C3D"/>
                </a:solidFill>
                <a:latin typeface="Noto Sans"/>
                <a:ea typeface="Noto Sans"/>
                <a:cs typeface="Noto Sans"/>
              </a:rPr>
              <a:t>Ba cấu hình trên cùng dữ liệu và mô hình</a:t>
            </a:r>
          </a:p>
        </p:txBody>
      </p:sp>
      <p:sp>
        <p:nvSpPr>
          <p:cNvPr id="6" name="">
            <a:extLst xmlns:a="http://schemas.openxmlformats.org/drawingml/2006/main">
              <a:ext uri="{FF2B5EF4-FFF2-40B4-BE49-F238E27FC236}">
                <a16:creationId xmlns:a16="http://schemas.microsoft.com/office/drawing/2014/main" id="{96A4EBB9-C2D3-4BCC-A60F-FCC7AF55A8C9}"/>
              </a:ext>
            </a:extLst>
          </p:cNvPr>
          <p:cNvSpPr>
            <a:spLocks xmlns:a="http://schemas.openxmlformats.org/drawingml/2006/main" noGrp="1"/>
          </p:cNvSpPr>
          <p:nvPr/>
        </p:nvSpPr>
        <p:spPr>
          <a:xfrm xmlns:a="http://schemas.openxmlformats.org/drawingml/2006/main">
            <a:off x="685800" y="4295775"/>
            <a:ext cx="1082040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32C3D"/>
                </a:solidFill>
                <a:latin typeface="Noto Sans"/>
                <a:ea typeface="Noto Sans"/>
                <a:cs typeface="Noto Sans"/>
              </a:defRPr>
            </a:pPr>
            <a:r>
              <a:rPr sz="2100" b="0">
                <a:solidFill>
                  <a:srgbClr val="132C3D"/>
                </a:solidFill>
                <a:latin typeface="Noto Sans"/>
                <a:ea typeface="Noto Sans"/>
                <a:cs typeface="Noto Sans"/>
              </a:rPr>
              <a:t>Direct: sinh SQL từ bảng gốc trong một lượt.</a:t>
            </a:r>
          </a:p>
          <a:p xmlns:a="http://schemas.openxmlformats.org/drawingml/2006/main">
            <a:pPr>
              <a:defRPr sz="2100" b="0">
                <a:solidFill>
                  <a:srgbClr val="132C3D"/>
                </a:solidFill>
                <a:latin typeface="Noto Sans"/>
                <a:ea typeface="Noto Sans"/>
                <a:cs typeface="Noto Sans"/>
              </a:defRPr>
            </a:pPr>
            <a:r>
              <a:rPr sz="2100" b="0">
                <a:solidFill>
                  <a:srgbClr val="132C3D"/>
                </a:solidFill>
                <a:latin typeface="Noto Sans"/>
                <a:ea typeface="Noto Sans"/>
                <a:cs typeface="Noto Sans"/>
              </a:rPr>
              <a:t>V-SQL: view viết tay và hai giai đoạn sinh SQL.</a:t>
            </a:r>
          </a:p>
          <a:p xmlns:a="http://schemas.openxmlformats.org/drawingml/2006/main">
            <a:pPr>
              <a:defRPr sz="2100" b="0">
                <a:solidFill>
                  <a:srgbClr val="132C3D"/>
                </a:solidFill>
                <a:latin typeface="Noto Sans"/>
                <a:ea typeface="Noto Sans"/>
                <a:cs typeface="Noto Sans"/>
              </a:defRPr>
            </a:pPr>
            <a:r>
              <a:rPr sz="2100" b="0">
                <a:solidFill>
                  <a:srgbClr val="132C3D"/>
                </a:solidFill>
                <a:latin typeface="Noto Sans"/>
                <a:ea typeface="Noto Sans"/>
                <a:cs typeface="Noto Sans"/>
              </a:rPr>
              <a:t>Auto-V-SQL: view tự động và hai giai đoạn sinh SQL.</a:t>
            </a:r>
          </a:p>
        </p:txBody>
      </p:sp>
      <p:sp>
        <p:nvSpPr>
          <p:cNvPr id="7" name="">
            <a:extLst xmlns:a="http://schemas.openxmlformats.org/drawingml/2006/main">
              <a:ext uri="{FF2B5EF4-FFF2-40B4-BE49-F238E27FC236}">
                <a16:creationId xmlns:a16="http://schemas.microsoft.com/office/drawing/2014/main" id="{CA41E772-DA02-4E3C-BA53-4A6431E35AB2}"/>
              </a:ext>
            </a:extLst>
          </p:cNvPr>
          <p:cNvSpPr>
            <a:spLocks xmlns:a="http://schemas.openxmlformats.org/drawingml/2006/main" noGrp="1"/>
          </p:cNvSpPr>
          <p:nvPr/>
        </p:nvSpPr>
        <p:spPr>
          <a:xfrm xmlns:a="http://schemas.openxmlformats.org/drawingml/2006/main">
            <a:off x="685800" y="59912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775"/>
                </a:solidFill>
                <a:latin typeface="Noto Sans"/>
                <a:ea typeface="Noto Sans"/>
                <a:cs typeface="Noto Sans"/>
              </a:defRPr>
            </a:pPr>
            <a:r>
              <a:rPr sz="1875" b="0">
                <a:solidFill>
                  <a:srgbClr val="526775"/>
                </a:solidFill>
                <a:latin typeface="Noto Sans"/>
                <a:ea typeface="Noto Sans"/>
                <a:cs typeface="Noto Sans"/>
              </a:rPr>
              <a:t>Mô hình cấu hình: gemini-3.5-flash-lite, temperature = 0</a:t>
            </a:r>
          </a:p>
        </p:txBody>
      </p:sp>
    </p:spTree>
    <p:extLst>
      <p:ext uri="{BB962C8B-B14F-4D97-AF65-F5344CB8AC3E}">
        <p14:creationId xmlns:p14="http://schemas.microsoft.com/office/powerpoint/2010/main" val="182223803"/>
      </p:ext>
    </p:extLst>
  </p:cSld>
</p:sld>
</file>

<file path=ppt/slides/slide9.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841722F-5DE9-41BF-83F1-C7086C689531}"/>
              </a:ext>
            </a:extLst>
          </p:cNvPr>
          <p:cNvSpPr>
            <a:spLocks xmlns:a="http://schemas.openxmlformats.org/drawingml/2006/main" noGrp="1"/>
          </p:cNvSpPr>
          <p:nvPr/>
        </p:nvSpPr>
        <p:spPr>
          <a:xfrm xmlns:a="http://schemas.openxmlformats.org/drawingml/2006/main">
            <a:off x="685800" y="45720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32C3D"/>
                </a:solidFill>
                <a:latin typeface="Noto Sans"/>
                <a:ea typeface="Noto Sans"/>
                <a:cs typeface="Noto Sans"/>
              </a:defRPr>
            </a:pPr>
            <a:r>
              <a:rPr sz="3300" b="1">
                <a:solidFill>
                  <a:srgbClr val="132C3D"/>
                </a:solidFill>
                <a:latin typeface="Noto Sans"/>
                <a:ea typeface="Noto Sans"/>
                <a:cs typeface="Noto Sans"/>
              </a:rPr>
              <a:t>Kết quả thực nghiệm của tôi</a:t>
            </a:r>
          </a:p>
        </p:txBody>
      </p:sp>
      <p:sp>
        <p:nvSpPr>
          <p:cNvPr id="2" name="">
            <a:extLst xmlns:a="http://schemas.openxmlformats.org/drawingml/2006/main">
              <a:ext uri="{FF2B5EF4-FFF2-40B4-BE49-F238E27FC236}">
                <a16:creationId xmlns:a16="http://schemas.microsoft.com/office/drawing/2014/main" id="{B2005C7E-516C-4A1A-90E9-5240B4E2516C}"/>
              </a:ext>
            </a:extLst>
          </p:cNvPr>
          <p:cNvSpPr>
            <a:spLocks xmlns:a="http://schemas.openxmlformats.org/drawingml/2006/main" noGrp="1"/>
          </p:cNvSpPr>
          <p:nvPr/>
        </p:nvSpPr>
        <p:spPr>
          <a:xfrm xmlns:a="http://schemas.openxmlformats.org/drawingml/2006/main">
            <a:off x="10763250" y="628650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775"/>
                </a:solidFill>
                <a:latin typeface="Noto Sans"/>
                <a:ea typeface="Noto Sans"/>
                <a:cs typeface="Noto Sans"/>
              </a:defRPr>
            </a:pPr>
            <a:r>
              <a:rPr sz="1350" b="0">
                <a:solidFill>
                  <a:srgbClr val="526775"/>
                </a:solidFill>
                <a:latin typeface="Noto Sans"/>
                <a:ea typeface="Noto Sans"/>
                <a:cs typeface="Noto Sans"/>
              </a:rPr>
              <a:t>9 / 10</a:t>
            </a:r>
          </a:p>
        </p:txBody>
      </p:sp>
      <p:sp>
        <p:nvSpPr>
          <p:cNvPr id="3" name="">
            <a:extLst xmlns:a="http://schemas.openxmlformats.org/drawingml/2006/main">
              <a:ext uri="{FF2B5EF4-FFF2-40B4-BE49-F238E27FC236}">
                <a16:creationId xmlns:a16="http://schemas.microsoft.com/office/drawing/2014/main" id="{DB7B52AC-76F5-44B8-ADBB-EAB8806D2978}"/>
              </a:ext>
            </a:extLst>
          </p:cNvPr>
          <p:cNvSpPr>
            <a:spLocks xmlns:a="http://schemas.openxmlformats.org/drawingml/2006/main" noGrp="1"/>
          </p:cNvSpPr>
          <p:nvPr/>
        </p:nvSpPr>
        <p:spPr>
          <a:xfrm xmlns:a="http://schemas.openxmlformats.org/drawingml/2006/main">
            <a:off x="685800" y="1495425"/>
            <a:ext cx="108204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775"/>
                </a:solidFill>
                <a:latin typeface="Noto Sans"/>
                <a:ea typeface="Noto Sans"/>
                <a:cs typeface="Noto Sans"/>
              </a:defRPr>
            </a:pPr>
            <a:r>
              <a:rPr sz="1875" b="0">
                <a:solidFill>
                  <a:srgbClr val="526775"/>
                </a:solidFill>
                <a:latin typeface="Noto Sans"/>
                <a:ea typeface="Noto Sans"/>
                <a:cs typeface="Noto Sans"/>
              </a:rPr>
              <a:t>EX theo bộ chấm hiện tại (%)</a:t>
            </a:r>
          </a:p>
        </p:txBody>
      </p:sp>
      <p:graphicFrame>
        <p:nvGraphicFramePr>
          <p:cNvPr id="10" name="Chart"/>
          <p:cNvGraphicFramePr/>
          <p:nvPr/>
        </p:nvGraphicFramePr>
        <p:xfrm>
          <a:off xmlns:a="http://schemas.openxmlformats.org/drawingml/2006/main" x="619125" y="1924050"/>
          <a:ext xmlns:a="http://schemas.openxmlformats.org/drawingml/2006/main" cx="10763250" cy="3714750"/>
        </p:xfrm>
        <a:graphic xmlns:a="http://schemas.openxmlformats.org/drawingml/2006/main">
          <a:graphicData uri="http://schemas.openxmlformats.org/drawingml/2006/chart">
            <c:chart xmlns:r="http://schemas.openxmlformats.org/officeDocument/2006/relationships" xmlns:c="http://schemas.openxmlformats.org/drawingml/2006/chart" r:id="Rbd9afe73445d4e5d"/>
          </a:graphicData>
        </a:graphic>
      </p:graphicFrame>
      <p:sp>
        <p:nvSpPr>
          <p:cNvPr id="5" name="">
            <a:extLst xmlns:a="http://schemas.openxmlformats.org/drawingml/2006/main">
              <a:ext uri="{FF2B5EF4-FFF2-40B4-BE49-F238E27FC236}">
                <a16:creationId xmlns:a16="http://schemas.microsoft.com/office/drawing/2014/main" id="{F47BED7B-0680-4DE5-ABDE-1FCE343F5A62}"/>
              </a:ext>
            </a:extLst>
          </p:cNvPr>
          <p:cNvSpPr>
            <a:spLocks xmlns:a="http://schemas.openxmlformats.org/drawingml/2006/main" noGrp="1"/>
          </p:cNvSpPr>
          <p:nvPr/>
        </p:nvSpPr>
        <p:spPr>
          <a:xfrm xmlns:a="http://schemas.openxmlformats.org/drawingml/2006/main">
            <a:off x="685800" y="5743575"/>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32C3D"/>
                </a:solidFill>
                <a:latin typeface="Noto Sans"/>
                <a:ea typeface="Noto Sans"/>
                <a:cs typeface="Noto Sans"/>
              </a:defRPr>
            </a:pPr>
            <a:r>
              <a:rPr sz="1875" b="1">
                <a:solidFill>
                  <a:srgbClr val="132C3D"/>
                </a:solidFill>
                <a:latin typeface="Noto Sans"/>
                <a:ea typeface="Noto Sans"/>
                <a:cs typeface="Noto Sans"/>
              </a:rPr>
              <a:t>Tổng câu đúng: Direct 43/52, V-SQL viết tay 44/52, Auto-V-SQL 43/52.</a:t>
            </a:r>
          </a:p>
        </p:txBody>
      </p:sp>
      <p:sp>
        <p:nvSpPr>
          <p:cNvPr id="6" name="">
            <a:extLst xmlns:a="http://schemas.openxmlformats.org/drawingml/2006/main">
              <a:ext uri="{FF2B5EF4-FFF2-40B4-BE49-F238E27FC236}">
                <a16:creationId xmlns:a16="http://schemas.microsoft.com/office/drawing/2014/main" id="{DF2D22CA-9943-42D9-AA46-4C28A166AC81}"/>
              </a:ext>
            </a:extLst>
          </p:cNvPr>
          <p:cNvSpPr>
            <a:spLocks xmlns:a="http://schemas.openxmlformats.org/drawingml/2006/main" noGrp="1"/>
          </p:cNvSpPr>
          <p:nvPr/>
        </p:nvSpPr>
        <p:spPr>
          <a:xfrm xmlns:a="http://schemas.openxmlformats.org/drawingml/2006/main">
            <a:off x="685800" y="619125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775"/>
                </a:solidFill>
                <a:latin typeface="Noto Sans"/>
                <a:ea typeface="Noto Sans"/>
                <a:cs typeface="Noto Sans"/>
              </a:defRPr>
            </a:pPr>
            <a:r>
              <a:rPr sz="1650" b="0">
                <a:solidFill>
                  <a:srgbClr val="526775"/>
                </a:solidFill>
                <a:latin typeface="Noto Sans"/>
                <a:ea typeface="Noto Sans"/>
                <a:cs typeface="Noto Sans"/>
              </a:rPr>
              <a:t>SQL chạy được: Direct 51/52. Hai cấu hình view đều đạt 52/52.</a:t>
            </a:r>
          </a:p>
        </p:txBody>
      </p:sp>
    </p:spTree>
    <p:extLst>
      <p:ext uri="{BB962C8B-B14F-4D97-AF65-F5344CB8AC3E}">
        <p14:creationId xmlns:p14="http://schemas.microsoft.com/office/powerpoint/2010/main" val="634798834"/>
      </p:ext>
    </p:extLst>
  </p:cSld>
</p:sld>
</file>

<file path=ppt/slides/slide10.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AFB4734-FFE2-421A-BDC1-846BEB0878E6}"/>
              </a:ext>
            </a:extLst>
          </p:cNvPr>
          <p:cNvSpPr>
            <a:spLocks xmlns:a="http://schemas.openxmlformats.org/drawingml/2006/main" noGrp="1"/>
          </p:cNvSpPr>
          <p:nvPr/>
        </p:nvSpPr>
        <p:spPr>
          <a:xfrm xmlns:a="http://schemas.openxmlformats.org/drawingml/2006/main">
            <a:off x="685800" y="45720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32C3D"/>
                </a:solidFill>
                <a:latin typeface="Noto Sans"/>
                <a:ea typeface="Noto Sans"/>
                <a:cs typeface="Noto Sans"/>
              </a:defRPr>
            </a:pPr>
            <a:r>
              <a:rPr sz="3300" b="1">
                <a:solidFill>
                  <a:srgbClr val="132C3D"/>
                </a:solidFill>
                <a:latin typeface="Noto Sans"/>
                <a:ea typeface="Noto Sans"/>
                <a:cs typeface="Noto Sans"/>
              </a:rPr>
              <a:t>Nhận xét sau thực nghiệm</a:t>
            </a:r>
          </a:p>
        </p:txBody>
      </p:sp>
      <p:sp>
        <p:nvSpPr>
          <p:cNvPr id="2" name="">
            <a:extLst xmlns:a="http://schemas.openxmlformats.org/drawingml/2006/main">
              <a:ext uri="{FF2B5EF4-FFF2-40B4-BE49-F238E27FC236}">
                <a16:creationId xmlns:a16="http://schemas.microsoft.com/office/drawing/2014/main" id="{EBFCC457-6F48-48C4-B298-58B4863D4055}"/>
              </a:ext>
            </a:extLst>
          </p:cNvPr>
          <p:cNvSpPr>
            <a:spLocks xmlns:a="http://schemas.openxmlformats.org/drawingml/2006/main" noGrp="1"/>
          </p:cNvSpPr>
          <p:nvPr/>
        </p:nvSpPr>
        <p:spPr>
          <a:xfrm xmlns:a="http://schemas.openxmlformats.org/drawingml/2006/main">
            <a:off x="10763250" y="628650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775"/>
                </a:solidFill>
                <a:latin typeface="Noto Sans"/>
                <a:ea typeface="Noto Sans"/>
                <a:cs typeface="Noto Sans"/>
              </a:defRPr>
            </a:pPr>
            <a:r>
              <a:rPr sz="1350" b="0">
                <a:solidFill>
                  <a:srgbClr val="526775"/>
                </a:solidFill>
                <a:latin typeface="Noto Sans"/>
                <a:ea typeface="Noto Sans"/>
                <a:cs typeface="Noto Sans"/>
              </a:rPr>
              <a:t>10 / 10</a:t>
            </a:r>
          </a:p>
        </p:txBody>
      </p:sp>
      <p:sp>
        <p:nvSpPr>
          <p:cNvPr id="3" name="">
            <a:extLst xmlns:a="http://schemas.openxmlformats.org/drawingml/2006/main">
              <a:ext uri="{FF2B5EF4-FFF2-40B4-BE49-F238E27FC236}">
                <a16:creationId xmlns:a16="http://schemas.microsoft.com/office/drawing/2014/main" id="{3225E1B3-D60F-4075-953A-4EE2E206B37F}"/>
              </a:ext>
            </a:extLst>
          </p:cNvPr>
          <p:cNvSpPr>
            <a:spLocks xmlns:a="http://schemas.openxmlformats.org/drawingml/2006/main" noGrp="1"/>
          </p:cNvSpPr>
          <p:nvPr/>
        </p:nvSpPr>
        <p:spPr>
          <a:xfrm xmlns:a="http://schemas.openxmlformats.org/drawingml/2006/main">
            <a:off x="685800" y="1676400"/>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E80"/>
                </a:solidFill>
                <a:latin typeface="Noto Sans"/>
                <a:ea typeface="Noto Sans"/>
                <a:cs typeface="Noto Sans"/>
              </a:defRPr>
            </a:pPr>
            <a:r>
              <a:rPr sz="2250" b="1">
                <a:solidFill>
                  <a:srgbClr val="007E80"/>
                </a:solidFill>
                <a:latin typeface="Noto Sans"/>
                <a:ea typeface="Noto Sans"/>
                <a:cs typeface="Noto Sans"/>
              </a:rPr>
              <a:t>Từ bài báo</a:t>
            </a:r>
          </a:p>
        </p:txBody>
      </p:sp>
      <p:sp>
        <p:nvSpPr>
          <p:cNvPr id="4" name="">
            <a:extLst xmlns:a="http://schemas.openxmlformats.org/drawingml/2006/main">
              <a:ext uri="{FF2B5EF4-FFF2-40B4-BE49-F238E27FC236}">
                <a16:creationId xmlns:a16="http://schemas.microsoft.com/office/drawing/2014/main" id="{DE7BE63E-DE4C-4B36-9287-4D35743B3FF3}"/>
              </a:ext>
            </a:extLst>
          </p:cNvPr>
          <p:cNvSpPr>
            <a:spLocks xmlns:a="http://schemas.openxmlformats.org/drawingml/2006/main" noGrp="1"/>
          </p:cNvSpPr>
          <p:nvPr/>
        </p:nvSpPr>
        <p:spPr>
          <a:xfrm xmlns:a="http://schemas.openxmlformats.org/drawingml/2006/main">
            <a:off x="685800" y="2209800"/>
            <a:ext cx="108204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32C3D"/>
                </a:solidFill>
                <a:latin typeface="Noto Sans"/>
                <a:ea typeface="Noto Sans"/>
                <a:cs typeface="Noto Sans"/>
              </a:defRPr>
            </a:pPr>
            <a:r>
              <a:rPr sz="2250" b="0">
                <a:solidFill>
                  <a:srgbClr val="132C3D"/>
                </a:solidFill>
                <a:latin typeface="Noto Sans"/>
                <a:ea typeface="Noto Sans"/>
                <a:cs typeface="Noto Sans"/>
              </a:rPr>
              <a:t>View giúp mô tả các thuộc tính liên quan cho LLM.</a:t>
            </a:r>
          </a:p>
          <a:p xmlns:a="http://schemas.openxmlformats.org/drawingml/2006/main">
            <a:pPr>
              <a:defRPr sz="2250" b="0">
                <a:solidFill>
                  <a:srgbClr val="132C3D"/>
                </a:solidFill>
                <a:latin typeface="Noto Sans"/>
                <a:ea typeface="Noto Sans"/>
                <a:cs typeface="Noto Sans"/>
              </a:defRPr>
            </a:pPr>
            <a:r>
              <a:rPr sz="2250" b="0">
                <a:solidFill>
                  <a:srgbClr val="132C3D"/>
                </a:solidFill>
                <a:latin typeface="Noto Sans"/>
                <a:ea typeface="Noto Sans"/>
                <a:cs typeface="Noto Sans"/>
              </a:rPr>
              <a:t>Hai giai đoạn tách SQL trung gian và SQL chạy trên bảng gốc.</a:t>
            </a:r>
          </a:p>
        </p:txBody>
      </p:sp>
      <p:sp>
        <p:nvSpPr>
          <p:cNvPr id="5" name="">
            <a:extLst xmlns:a="http://schemas.openxmlformats.org/drawingml/2006/main">
              <a:ext uri="{FF2B5EF4-FFF2-40B4-BE49-F238E27FC236}">
                <a16:creationId xmlns:a16="http://schemas.microsoft.com/office/drawing/2014/main" id="{823F7C8A-105B-40DD-AB29-7171B7D03FB5}"/>
              </a:ext>
            </a:extLst>
          </p:cNvPr>
          <p:cNvSpPr>
            <a:spLocks xmlns:a="http://schemas.openxmlformats.org/drawingml/2006/main" noGrp="1"/>
          </p:cNvSpPr>
          <p:nvPr/>
        </p:nvSpPr>
        <p:spPr>
          <a:xfrm xmlns:a="http://schemas.openxmlformats.org/drawingml/2006/main">
            <a:off x="685800" y="3590925"/>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E80"/>
                </a:solidFill>
                <a:latin typeface="Noto Sans"/>
                <a:ea typeface="Noto Sans"/>
                <a:cs typeface="Noto Sans"/>
              </a:defRPr>
            </a:pPr>
            <a:r>
              <a:rPr sz="2250" b="1">
                <a:solidFill>
                  <a:srgbClr val="007E80"/>
                </a:solidFill>
                <a:latin typeface="Noto Sans"/>
                <a:ea typeface="Noto Sans"/>
                <a:cs typeface="Noto Sans"/>
              </a:rPr>
              <a:t>Từ thực nghiệm của tôi</a:t>
            </a:r>
          </a:p>
        </p:txBody>
      </p:sp>
      <p:sp>
        <p:nvSpPr>
          <p:cNvPr id="6" name="">
            <a:extLst xmlns:a="http://schemas.openxmlformats.org/drawingml/2006/main">
              <a:ext uri="{FF2B5EF4-FFF2-40B4-BE49-F238E27FC236}">
                <a16:creationId xmlns:a16="http://schemas.microsoft.com/office/drawing/2014/main" id="{668810F3-A0F1-4CC4-B846-A2D7307B8C6B}"/>
              </a:ext>
            </a:extLst>
          </p:cNvPr>
          <p:cNvSpPr>
            <a:spLocks xmlns:a="http://schemas.openxmlformats.org/drawingml/2006/main" noGrp="1"/>
          </p:cNvSpPr>
          <p:nvPr/>
        </p:nvSpPr>
        <p:spPr>
          <a:xfrm xmlns:a="http://schemas.openxmlformats.org/drawingml/2006/main">
            <a:off x="685800" y="41338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32C3D"/>
                </a:solidFill>
                <a:latin typeface="Noto Sans"/>
                <a:ea typeface="Noto Sans"/>
                <a:cs typeface="Noto Sans"/>
              </a:defRPr>
            </a:pPr>
            <a:r>
              <a:rPr sz="2250" b="0">
                <a:solidFill>
                  <a:srgbClr val="132C3D"/>
                </a:solidFill>
                <a:latin typeface="Noto Sans"/>
                <a:ea typeface="Noto Sans"/>
                <a:cs typeface="Noto Sans"/>
              </a:rPr>
              <a:t>Đã tự động hóa tạo view, EX tổng bằng Direct.</a:t>
            </a:r>
          </a:p>
          <a:p xmlns:a="http://schemas.openxmlformats.org/drawingml/2006/main">
            <a:pPr>
              <a:defRPr sz="2250" b="0">
                <a:solidFill>
                  <a:srgbClr val="132C3D"/>
                </a:solidFill>
                <a:latin typeface="Noto Sans"/>
                <a:ea typeface="Noto Sans"/>
                <a:cs typeface="Noto Sans"/>
              </a:defRPr>
            </a:pPr>
            <a:r>
              <a:rPr sz="2250" b="0">
                <a:solidFill>
                  <a:srgbClr val="132C3D"/>
                </a:solidFill>
                <a:latin typeface="Noto Sans"/>
                <a:ea typeface="Noto Sans"/>
                <a:cs typeface="Noto Sans"/>
              </a:rPr>
              <a:t>Auto hơn 1 câu trung bình, nhưng thấp hơn 1 câu khó.</a:t>
            </a:r>
          </a:p>
        </p:txBody>
      </p:sp>
      <p:sp>
        <p:nvSpPr>
          <p:cNvPr id="7" name="">
            <a:extLst xmlns:a="http://schemas.openxmlformats.org/drawingml/2006/main">
              <a:ext uri="{FF2B5EF4-FFF2-40B4-BE49-F238E27FC236}">
                <a16:creationId xmlns:a16="http://schemas.microsoft.com/office/drawing/2014/main" id="{1B7B4C36-4E2F-47EA-8B39-6787071D810F}"/>
              </a:ext>
            </a:extLst>
          </p:cNvPr>
          <p:cNvSpPr>
            <a:spLocks xmlns:a="http://schemas.openxmlformats.org/drawingml/2006/main" noGrp="1"/>
          </p:cNvSpPr>
          <p:nvPr/>
        </p:nvSpPr>
        <p:spPr>
          <a:xfrm xmlns:a="http://schemas.openxmlformats.org/drawingml/2006/main">
            <a:off x="685800" y="5562600"/>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775"/>
                </a:solidFill>
                <a:latin typeface="Noto Sans"/>
                <a:ea typeface="Noto Sans"/>
                <a:cs typeface="Noto Sans"/>
              </a:defRPr>
            </a:pPr>
            <a:r>
              <a:rPr sz="1875" b="0">
                <a:solidFill>
                  <a:srgbClr val="526775"/>
                </a:solidFill>
                <a:latin typeface="Noto Sans"/>
                <a:ea typeface="Noto Sans"/>
                <a:cs typeface="Noto Sans"/>
              </a:rPr>
              <a:t>Giới hạn: một DB. Bộ chấm bỏ thứ tự và số lần lặp của hàng.</a:t>
            </a:r>
          </a:p>
          <a:p xmlns:a="http://schemas.openxmlformats.org/drawingml/2006/main">
            <a:pPr>
              <a:defRPr sz="1875" b="0">
                <a:solidFill>
                  <a:srgbClr val="526775"/>
                </a:solidFill>
                <a:latin typeface="Noto Sans"/>
                <a:ea typeface="Noto Sans"/>
                <a:cs typeface="Noto Sans"/>
              </a:defRPr>
            </a:pPr>
            <a:r>
              <a:rPr sz="1875" b="0">
                <a:solidFill>
                  <a:srgbClr val="526775"/>
                </a:solidFill>
                <a:latin typeface="Noto Sans"/>
                <a:ea typeface="Noto Sans"/>
                <a:cs typeface="Noto Sans"/>
              </a:rPr>
              <a:t>Chưa thể so điểm trực tiếp với bài gốc. Cần thử thêm DB và đo chi phí.</a:t>
            </a:r>
          </a:p>
        </p:txBody>
      </p:sp>
    </p:spTree>
    <p:extLst>
      <p:ext uri="{BB962C8B-B14F-4D97-AF65-F5344CB8AC3E}">
        <p14:creationId xmlns:p14="http://schemas.microsoft.com/office/powerpoint/2010/main" val="152464919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2026-10-06T12:09:43.8070000Z</dcterms:created>
  <dcterms:modified xsi:type="dcterms:W3CDTF">2026-10-06T12:09:43.8070000Z</dcterms:modified>
</coreProperties>
</file>