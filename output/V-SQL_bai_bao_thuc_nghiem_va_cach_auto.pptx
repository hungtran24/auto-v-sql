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d410ce467034cb6" /><Relationship Type="http://schemas.openxmlformats.org/officeDocument/2006/relationships/extended-properties" Target="/docProps/app.xml" Id="Ref098752f94a486d" /><Relationship Type="http://schemas.openxmlformats.org/officeDocument/2006/relationships/officeDocument" Target="/ppt/presentation.xml" Id="Re9096a5718764793" /></Relationships>
</file>

<file path=ppt/presentation.xml><?xml version="1.0" encoding="utf-8"?>
<p:presentation xmlns:p="http://schemas.openxmlformats.org/presentationml/2006/main">
  <p:sldMasterIdLst>
    <p:sldMasterId xmlns:r="http://schemas.openxmlformats.org/officeDocument/2006/relationships" id="2147483648" r:id="R81de7ded291a4a15"/>
  </p:sldMasterIdLst>
  <p:notesMasterIdLst>
    <p:notesMasterId xmlns:r="http://schemas.openxmlformats.org/officeDocument/2006/relationships" r:id="R832a625468fd42ea"/>
  </p:notesMasterIdLst>
  <p:sldIdLst>
    <p:sldId xmlns:r="http://schemas.openxmlformats.org/officeDocument/2006/relationships" id="256" r:id="R07f08759104f47eb"/>
    <p:sldId xmlns:r="http://schemas.openxmlformats.org/officeDocument/2006/relationships" id="257" r:id="R74845a47ff474ead"/>
    <p:sldId xmlns:r="http://schemas.openxmlformats.org/officeDocument/2006/relationships" id="258" r:id="R5a464cc295a542b9"/>
    <p:sldId xmlns:r="http://schemas.openxmlformats.org/officeDocument/2006/relationships" id="259" r:id="Re4a4cf187cbb45e7"/>
    <p:sldId xmlns:r="http://schemas.openxmlformats.org/officeDocument/2006/relationships" id="260" r:id="Re37842dffa0b45d9"/>
    <p:sldId xmlns:r="http://schemas.openxmlformats.org/officeDocument/2006/relationships" id="261" r:id="R3718d747a608410f"/>
    <p:sldId xmlns:r="http://schemas.openxmlformats.org/officeDocument/2006/relationships" id="262" r:id="Rd75cc00a95944d87"/>
    <p:sldId xmlns:r="http://schemas.openxmlformats.org/officeDocument/2006/relationships" id="263" r:id="Rf80dc72bf9764645"/>
    <p:sldId xmlns:r="http://schemas.openxmlformats.org/officeDocument/2006/relationships" id="264" r:id="Re1c59b00e8d247f2"/>
    <p:sldId xmlns:r="http://schemas.openxmlformats.org/officeDocument/2006/relationships" id="265" r:id="R0e91c00c3f934faa"/>
    <p:sldId xmlns:r="http://schemas.openxmlformats.org/officeDocument/2006/relationships" id="266" r:id="Ra8c5a1c359754050"/>
    <p:sldId xmlns:r="http://schemas.openxmlformats.org/officeDocument/2006/relationships" id="267" r:id="R660f618fe2134b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9c54c6660f4a7c" /><Relationship Type="http://schemas.openxmlformats.org/officeDocument/2006/relationships/slideMaster" Target="/ppt/slideMasters/slideMaster1.xml" Id="R81de7ded291a4a15" /><Relationship Type="http://schemas.openxmlformats.org/officeDocument/2006/relationships/notesMaster" Target="/ppt/notesMasters/notesMaster1.xml" Id="R832a625468fd42ea" /><Relationship Type="http://schemas.openxmlformats.org/officeDocument/2006/relationships/presProps" Target="/ppt/presProps.xml" Id="Rd44184c020754789" /><Relationship Type="http://schemas.openxmlformats.org/officeDocument/2006/relationships/tableStyles" Target="/ppt/tableStyles.xml" Id="R0e95bdd1296348bd" /><Relationship Type="http://schemas.openxmlformats.org/officeDocument/2006/relationships/slide" Target="/ppt/slides/slide1.xml" Id="R07f08759104f47eb" /><Relationship Type="http://schemas.openxmlformats.org/officeDocument/2006/relationships/slide" Target="/ppt/slides/slide2.xml" Id="R74845a47ff474ead" /><Relationship Type="http://schemas.openxmlformats.org/officeDocument/2006/relationships/slide" Target="/ppt/slides/slide3.xml" Id="R5a464cc295a542b9" /><Relationship Type="http://schemas.openxmlformats.org/officeDocument/2006/relationships/slide" Target="/ppt/slides/slide4.xml" Id="Re4a4cf187cbb45e7" /><Relationship Type="http://schemas.openxmlformats.org/officeDocument/2006/relationships/slide" Target="/ppt/slides/slide5.xml" Id="Re37842dffa0b45d9" /><Relationship Type="http://schemas.openxmlformats.org/officeDocument/2006/relationships/slide" Target="/ppt/slides/slide6.xml" Id="R3718d747a608410f" /><Relationship Type="http://schemas.openxmlformats.org/officeDocument/2006/relationships/slide" Target="/ppt/slides/slide7.xml" Id="Rd75cc00a95944d87" /><Relationship Type="http://schemas.openxmlformats.org/officeDocument/2006/relationships/slide" Target="/ppt/slides/slide8.xml" Id="Rf80dc72bf9764645" /><Relationship Type="http://schemas.openxmlformats.org/officeDocument/2006/relationships/slide" Target="/ppt/slides/slide9.xml" Id="Re1c59b00e8d247f2" /><Relationship Type="http://schemas.openxmlformats.org/officeDocument/2006/relationships/slide" Target="/ppt/slides/slide10.xml" Id="R0e91c00c3f934faa" /><Relationship Type="http://schemas.openxmlformats.org/officeDocument/2006/relationships/slide" Target="/ppt/slides/slide11.xml" Id="Ra8c5a1c359754050" /><Relationship Type="http://schemas.openxmlformats.org/officeDocument/2006/relationships/slide" Target="/ppt/slides/slide12.xml" Id="R660f618fe2134b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33689357324a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512a0378d84430" /><Relationship Type="http://schemas.openxmlformats.org/officeDocument/2006/relationships/notesMaster" Target="/ppt/notesMasters/notesMaster1.xml" Id="R4bca1c5ed5dd4a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473504007a484f" /><Relationship Type="http://schemas.openxmlformats.org/officeDocument/2006/relationships/notesMaster" Target="/ppt/notesMasters/notesMaster1.xml" Id="R2c784e945b964e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59a6448f9a4d10" /><Relationship Type="http://schemas.openxmlformats.org/officeDocument/2006/relationships/notesMaster" Target="/ppt/notesMasters/notesMaster1.xml" Id="Ree47b0c09adb41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be072ca25a4aa3" /><Relationship Type="http://schemas.openxmlformats.org/officeDocument/2006/relationships/notesMaster" Target="/ppt/notesMasters/notesMaster1.xml" Id="Rbbb40305c4c942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5983baac7e425d" /><Relationship Type="http://schemas.openxmlformats.org/officeDocument/2006/relationships/notesMaster" Target="/ppt/notesMasters/notesMaster1.xml" Id="Rf6ddd1d36a044c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9960e1aa174f99" /><Relationship Type="http://schemas.openxmlformats.org/officeDocument/2006/relationships/notesMaster" Target="/ppt/notesMasters/notesMaster1.xml" Id="R0028324f08974b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1161e5607c4ed8" /><Relationship Type="http://schemas.openxmlformats.org/officeDocument/2006/relationships/notesMaster" Target="/ppt/notesMasters/notesMaster1.xml" Id="Rebb1a82ecf354b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288a538d2748f9" /><Relationship Type="http://schemas.openxmlformats.org/officeDocument/2006/relationships/notesMaster" Target="/ppt/notesMasters/notesMaster1.xml" Id="Rfef370d176a343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1f757c74c3486a" /><Relationship Type="http://schemas.openxmlformats.org/officeDocument/2006/relationships/notesMaster" Target="/ppt/notesMasters/notesMaster1.xml" Id="R31fabb0bb48f40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e14adf41214d6f" /><Relationship Type="http://schemas.openxmlformats.org/officeDocument/2006/relationships/notesMaster" Target="/ppt/notesMasters/notesMaster1.xml" Id="Rc0d6a3b148a044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7210d5b0b64ea2" /><Relationship Type="http://schemas.openxmlformats.org/officeDocument/2006/relationships/notesMaster" Target="/ppt/notesMasters/notesMaster1.xml" Id="Ra08590afa76c41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63d710a0d743e6" /><Relationship Type="http://schemas.openxmlformats.org/officeDocument/2006/relationships/notesMaster" Target="/ppt/notesMasters/notesMaster1.xml" Id="R27b0446d440b40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You và cộng sự, V-SQL: A View-based Two-stage Text-to-SQL Framework, PDF nguồn. README.md.</a:t>
            </a:r>
          </a:p>
          <a:p xmlns:a="http://schemas.openxmlformats.org/drawingml/2006/main">
            <a:r>
              <a:t/>
            </a:r>
          </a:p>
          <a:p xmlns:a="http://schemas.openxmlformats.org/drawingml/2006/main">
            <a:r>
              <a:t>Báo cáo gồm hai phần. Phần đầu trình bày bài báo gốc: bài toán, view-based schema, quy trình hai giai đoạn, ví dụ và kết quả BIRD. Phần sau trình bày thực nghiệm của Trần Quốc Hùng và mở rộng Auto-V-SQL. Tác giả bài báo: Zeshun You, Jiebin Yao, Dong Cheng, Zhiwei Wen, Zhiliang Lu, Xianyi Shen, Guangzhou Huaweisoft. Năm 2024 theo tên tệp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1–2 và Bảng 1.</a:t>
            </a:r>
          </a:p>
          <a:p xmlns:a="http://schemas.openxmlformats.org/drawingml/2006/main">
            <a:r>
              <a:t/>
            </a:r>
          </a:p>
          <a:p xmlns:a="http://schemas.openxmlformats.org/drawingml/2006/main">
            <a:r>
              <a:t>Text-to-SQL chuyển câu hỏi tự nhiên thành SQL thực thi. Các hướng trước tập trung schema linking: chọn bảng và cột phù hợp. Bài báo cho rằng chỉ liên kết câu hỏi với lược đồ chưa đủ, cần cải thiện cách biểu diễn lược đồ vì quan hệ khóa ngoại phức tạp khiến LLM nhầm cột. Ví dụ thuộc tính attribute_name thuộc attribute, nhưng SQL sai dùng hero_attribute.attribute_name. Bảng 1 có câu hỏi không khớp SQL nên slide chỉ minh họa lỗi tên cột được tác giả giải thích.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4.1 và Hình 1(A).</a:t>
            </a:r>
          </a:p>
          <a:p xmlns:a="http://schemas.openxmlformats.org/drawingml/2006/main">
            <a:r>
              <a:t/>
            </a:r>
          </a:p>
          <a:p xmlns:a="http://schemas.openxmlformats.org/drawingml/2006/main">
            <a:r>
              <a:t>View-based schema gom các thuộc tính liên quan từ nhiều bảng vào một mô tả view D′ để thay lược đồ bảng gốc D trong prompt sinh SQL trung gian. Không thay cấu trúc lưu trữ hoặc xóa khóa ngoại trong cơ sở dữ liệu. Ví dụ giản lược từ v_superhero của bài báo: eye_colour_id nối colour.id, tạo thuộc tính eye_colour. Views chỉ dùng làm hướng dẫn trong prompt, không cần CREATE VIEW thật. Đây là cách prompt/ICL, không huấn luyện lại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4.2–4.5, Hình 1.</a:t>
            </a:r>
          </a:p>
          <a:p xmlns:a="http://schemas.openxmlformats.org/drawingml/2006/main">
            <a:r>
              <a:t/>
            </a:r>
          </a:p>
          <a:p xmlns:a="http://schemas.openxmlformats.org/drawingml/2006/main">
            <a:r>
              <a:t>Có ba module, nhưng chỉ hai giai đoạn sinh SQL. Module table mapping chuẩn bị view và định nghĩa ánh xạ. Stage 1 dùng câu hỏi và view liên quan để sinh dummy SQL. Stage 2 dùng câu hỏi, dummy SQL, mapping và lược đồ bảng liên quan để dựng SQL cuối. Dummy SQL không thực thi vì kết quả của view có thể phụ thuộc kiểu JOIN dùng khi tạo view. SQL cuối chỉ truy vấn bảng gốc và khôi phục các JOIN cần thiết. Không huấn luyện encoder/decoder riêng, đây là phép so sánh của tác giả với autoencoder.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Bảng 4.</a:t>
            </a:r>
          </a:p>
          <a:p xmlns:a="http://schemas.openxmlformats.org/drawingml/2006/main">
            <a:r>
              <a:t/>
            </a:r>
          </a:p>
          <a:p xmlns:a="http://schemas.openxmlformats.org/drawingml/2006/main">
            <a:r>
              <a:t>Ví dụ giản lược từ Bảng 4. Bảng gốc ghi câu hỏi chỉ có mắt xanh nhưng gold/dummy/final SQL đều có thêm điều kiện tóc Blond. Slide diễn đạt lại câu hỏi theo điều kiện SQL và ghi chú điều chỉnh. Alias ngắn chỉ để dễ đọc. Dummy SQL không cần JOIN trong ví dụ này, còn SQL cuối có hai JOIN vào colour với hai alias. Không khẳng định mọi dummy SQL đều không cần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5.1–5.2 và Bảng 3.</a:t>
            </a:r>
          </a:p>
          <a:p xmlns:a="http://schemas.openxmlformats.org/drawingml/2006/main">
            <a:r>
              <a:t/>
            </a:r>
          </a:p>
          <a:p xmlns:a="http://schemas.openxmlformats.org/drawingml/2006/main">
            <a:r>
              <a:t>BIRD mini-dev: 500 cặp câu hỏi–SQL, 11 DB. EX kiểm tra SQL hợp lệ và kết quả thực thi khớp SQL chuẩn. Các mô hình: GPT-4 (gpt-4-32k), GPT-4 Turbo, GPT-3.5 Turbo. temperature=0, top-p=1, max_tokens=800. Không dùng self-consistency hay sửa lại trong phép so sánh. Các số trong bảng là EX tổng (%), theo nguyên bản, không phải thực nghiệm của học viên. V-SQL hơn TA-SQL 2.64 điểm phần trăm trên GPT-4 Turbo và 1.60 điểm trên GPT-3.5 Turbo, thấp hơn 0.17 điểm trên GPT-4. Bảng gốc viết V-SQLG ở hai dòng và GPT-35-turbo, slide thống nhất tên theo phần mô tả.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6–7. services/auto_view.py và run_experiment.py.</a:t>
            </a:r>
          </a:p>
          <a:p xmlns:a="http://schemas.openxmlformats.org/drawingml/2006/main">
            <a:r>
              <a:t/>
            </a:r>
          </a:p>
          <a:p xmlns:a="http://schemas.openxmlformats.org/drawingml/2006/main">
            <a:r>
              <a:t>Đây là điểm chuyển từ trình bày bài gốc sang thực nghiệm của học viên. Bài báo có prompt hỗ trợ tạo view ở phụ lục, nhưng thực nghiệm mô tả view thiết kế thủ công tham khảo JOIN trong ground-truth SQL. Tác giả nhận thấy tạo nhiều view hơn không đảm bảo tốt hơn, đề xuất tự động hóa mapping là hướng tiếp theo. Auto-V-SQL trong đồ án dùng Python với metadata, không dùng LLM để sinh view. Thuật toán nhận diện lookup theo ngưỡng &lt;=4 cột, ghép khóa ngoại trực tiếp. Module tạo view nhận metadata và không nhận câu hỏi/gold 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adapters/sqlite_db.py:get_all_tables_metadata; services/auto_view.py:generate_views; run_experiment.py.</a:t>
            </a:r>
          </a:p>
          <a:p xmlns:a="http://schemas.openxmlformats.org/drawingml/2006/main">
            <a:r>
              <a:t/>
            </a:r>
          </a:p>
          <a:p xmlns:a="http://schemas.openxmlformats.org/drawingml/2006/main">
            <a:r>
              <a:t>Đọc trực tiếp source. SQLite adapter đọc bảng từ sqlite_master, cột bằng PRAGMA table_info và khóa ngoại bằng PRAGMA foreign_key_list. Auto generator bỏ bảng không có FK. Với mỗi FK, nếu bảng đích tồn tại và có &lt;=4 cột thì tạo LEFT JOIN theo FK; giữ các cột bảng chính, thêm các cột đích trừ cột tham gia nối. Alias bảng suy ra từ tên FK bỏ _id, alias cột dựa trên alias bảng và tên cột. Chỉ xuất v_&lt;main_table&gt; nếu có ít nhất một JOIN. Không duyệt nhiều bước, không kiểm tra ngữ nghĩa lookup. Đây là heuristic theo số cột, không phải thuật toán học hoặc tối ưu view. Metadata duy nhất là đầu vào generate_views. Views sinh trước khi nạp test cases, được dùng chung mọi câu hỏi trong tập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run_experiment.py:get_paper_views_ddl; services/auto_view.py; artifacts/experiment_results.json:views_used.</a:t>
            </a:r>
          </a:p>
          <a:p xmlns:a="http://schemas.openxmlformats.org/drawingml/2006/main">
            <a:r>
              <a:t/>
            </a:r>
          </a:p>
          <a:p xmlns:a="http://schemas.openxmlformats.org/drawingml/2006/main">
            <a:r>
              <a:t>Kiểm tra views_used của đủ 52 bản ghi: mỗi phương pháp dùng cùng một bộ DDL. Viết tay có 2 view: v_superhero và v_hero_attribute. Auto có 3 view, thêm v_hero_power. Ví dụ v_hero_attribute viết tay LEFT JOIN superhero theo hero_id và attribute theo attribute_id, nên có superhero_name. Auto chỉ ghép attribute vì superhero có hơn 4 cột. Auto vẫn giữ các cột gốc hero_id,attribute_id,attribute_value và thêm attribute_attribute_name, nhưng không có superhero_name trong view. Đối với câu hỏi cần tên, LLM phải nối thêm bảng/view ở giai đoạn sinh SQL. Hai cấu hình đều dùng chung run_two_stage_view_sql, thay phần views_ddl. Thuật toán hiện chưa kiểm tra lookup dựa trên ngữ nghĩa hay uniqueness.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artifacts/experiment_results.json, run_experiment.py, adapters/cpa_llm.py, services/evaluator.py.</a:t>
            </a:r>
          </a:p>
          <a:p xmlns:a="http://schemas.openxmlformats.org/drawingml/2006/main">
            <a:r>
              <a:t/>
            </a:r>
          </a:p>
          <a:p xmlns:a="http://schemas.openxmlformats.org/drawingml/2006/main">
            <a:r>
              <a:t>Thực nghiệm học viên chỉ trên Superhero, 52 câu: 14 Simple,26 Moderate,12 Challenging. Ba cấu hình: Direct một giai đoạn với raw DDL, V-SQL sử dụng view viết tay theo bài báo, Auto-V-SQL sử dụng view tự động. Đây là triển khai tham khảo V-SQL, không tái lập đầy đủ mọi thành phần và benchmark của bài gốc. Cùng cấu hình model gemini-3.5-flash-lite qua CPA Proxy, temperature=0, max_tokens=800. Code không truyền top_p. Evaluator hiện so sánh set hàng, bỏ thứ tự và số lần lặp, nên không khẳng định tương đương bộ chấm BIRD chính thức. Kế hoạch có thêm schema-linking baseline nhưng JSON mới có ba cấu hình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artifacts/experiment_results.json.</a:t>
            </a:r>
          </a:p>
          <a:p xmlns:a="http://schemas.openxmlformats.org/drawingml/2006/main">
            <a:r>
              <a:t/>
            </a:r>
          </a:p>
          <a:p xmlns:a="http://schemas.openxmlformats.org/drawingml/2006/main">
            <a:r>
              <a:t>Đối chiếu đủ 52 bản ghi. Direct đúng 43/52, view viết tay 44/52, Auto-V-SQL 43/52. Theo Simple/Moderate/Challenging: Direct=13/14,22/26,8/12; viết tay=13/14,24/26,7/12; Auto=13/14,23/26,7/12. EX tổng=82.69,84.62,82.69%. Auto hơn Direct 1 câu ở Moderate và thấp hơn 1 câu ở Challenging. SQL thực thi được: Direct=51/52,view viết tay=52/52,Auto=52/52. Case 772 Direct báo no such table: superhero.superhero, còn cả hai cấu hình view chạy được nhưng vẫn sai tập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6–7. services/evaluator.py, services/auto_view.py, artifacts/experiment_results.json.</a:t>
            </a:r>
          </a:p>
          <a:p xmlns:a="http://schemas.openxmlformats.org/drawingml/2006/main">
            <a:r>
              <a:t/>
            </a:r>
          </a:p>
          <a:p xmlns:a="http://schemas.openxmlformats.org/drawingml/2006/main">
            <a:r>
              <a:t>Bài báo góp một cách biểu diễn schema bằng view và framework sinh SQL hai giai đoạn. Thực nghiệm đồ án đã tự động hóa module tạo view nhưng EX tổng chưa tăng so với Direct. Auto hơn Direct 1 câu nhóm Moderate, thua 1 câu nhóm Challenging. Hạn chế: 1 DB và một lần kết quả lưu, mô hình và bộ chấm khác bài gốc. set-based evaluator bỏ thứ tự/đếm lặp. Vì vậy không so sánh trực tiếp điểm 82.69 của đồ án với 45.4/52.8/56.0 của bài báo. Hướng tiếp: chấm ORDER BY và hàng trùng, chạy thêm nhiều DB, đo token và độ trễ.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45b47d5dbd43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68127e211e4075" /><Relationship Type="http://schemas.openxmlformats.org/officeDocument/2006/relationships/slideLayout" Target="/ppt/slideLayouts/slideLayout1.xml" Id="R45e4c35693a94b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e4c35693a94b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30ab4eaf24433f" /><Relationship Type="http://schemas.openxmlformats.org/officeDocument/2006/relationships/notesSlide" Target="/ppt/notesSlides/notesSlide1.xml" Id="R6a3866d766d34f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0b8dd7766249d2" /><Relationship Type="http://schemas.openxmlformats.org/officeDocument/2006/relationships/notesSlide" Target="/ppt/notesSlides/notesSlide2.xml" Id="Raa1cca72be5d4f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62b5a4058d4aa0" /><Relationship Type="http://schemas.openxmlformats.org/officeDocument/2006/relationships/notesSlide" Target="/ppt/notesSlides/notesSlide3.xml" Id="R6ed6feb8e0534f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0ee16bc6824e5e" /><Relationship Type="http://schemas.openxmlformats.org/officeDocument/2006/relationships/notesSlide" Target="/ppt/notesSlides/notesSlide4.xml" Id="R04f66fedb2ec46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7de23ad9f34679" /><Relationship Type="http://schemas.openxmlformats.org/officeDocument/2006/relationships/notesSlide" Target="/ppt/notesSlides/notesSlide5.xml" Id="R656b387f4b9b4d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3d32072290467e" /><Relationship Type="http://schemas.openxmlformats.org/officeDocument/2006/relationships/notesSlide" Target="/ppt/notesSlides/notesSlide6.xml" Id="R5d106fbc553d40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dfb33cc8e843e0" /><Relationship Type="http://schemas.openxmlformats.org/officeDocument/2006/relationships/notesSlide" Target="/ppt/notesSlides/notesSlide7.xml" Id="R95be964b967d46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4cda7096a04e26" /><Relationship Type="http://schemas.openxmlformats.org/officeDocument/2006/relationships/notesSlide" Target="/ppt/notesSlides/notesSlide8.xml" Id="R9cf5f0f8d08d4f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34128c2513493a" /><Relationship Type="http://schemas.openxmlformats.org/officeDocument/2006/relationships/notesSlide" Target="/ppt/notesSlides/notesSlide9.xml" Id="Ra5805ec0a8054b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aea2233d064bcc" /><Relationship Type="http://schemas.openxmlformats.org/officeDocument/2006/relationships/notesSlide" Target="/ppt/notesSlides/notesSlide10.xml" Id="R5892d442b0104b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551f7cf06e4dbc" /><Relationship Type="http://schemas.openxmlformats.org/officeDocument/2006/relationships/chart" Target="/ppt/slides/charts/chart1.xml" Id="Rbbe7af6109ff417d" /><Relationship Type="http://schemas.openxmlformats.org/officeDocument/2006/relationships/notesSlide" Target="/ppt/notesSlides/notesSlide11.xml" Id="Ra352c0a05fa046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df73e88e5d441c3" /><Relationship Type="http://schemas.openxmlformats.org/officeDocument/2006/relationships/notesSlide" Target="/ppt/notesSlides/notesSlide12.xml" Id="R8b6dc0232b37423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Direct</c:v>
          </c:tx>
          <c:spPr>
            <a:solidFill xmlns:a="http://schemas.openxmlformats.org/drawingml/2006/main">
              <a:srgbClr val="A6B7C2"/>
            </a:solidFill>
          </c:spPr>
          <c:dLbls>
            <c:dLbl>
              <c:idx val="0"/>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82,69</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92,86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84,62</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66,67</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s>
          <c:cat>
            <c:strRef>
              <c:f>'Chart Data'!$A$2:$A$5</c:f>
              <c:strCache>
                <c:ptCount val="4"/>
                <c:pt idx="0">
                  <c:v>Tổng (52)</c:v>
                </c:pt>
                <c:pt idx="1">
                  <c:v>Đơn giản (14)</c:v>
                </c:pt>
                <c:pt idx="2">
                  <c:v>Trung bình (26)</c:v>
                </c:pt>
                <c:pt idx="3">
                  <c:v>Khó (12)</c:v>
                </c:pt>
              </c:strCache>
            </c:strRef>
          </c:cat>
          <c:val>
            <c:numRef>
              <c:f>'Chart Data'!$B$2:$B$5</c:f>
              <c:numCache>
                <c:formatCode>0.00</c:formatCode>
                <c:ptCount val="4"/>
                <c:pt idx="0">
                  <c:v>82.69</c:v>
                </c:pt>
                <c:pt idx="1">
                  <c:v>92.86</c:v>
                </c:pt>
                <c:pt idx="2">
                  <c:v>84.62</c:v>
                </c:pt>
                <c:pt idx="3">
                  <c:v>66.67</c:v>
                </c:pt>
              </c:numCache>
            </c:numRef>
          </c:val>
        </c:ser>
        <c:ser>
          <c:idx val="1"/>
          <c:order val="1"/>
          <c:tx>
            <c:v>V-SQL viết tay</c:v>
          </c:tx>
          <c:spPr>
            <a:solidFill xmlns:a="http://schemas.openxmlformats.org/drawingml/2006/main">
              <a:srgbClr val="C18D49"/>
            </a:solidFill>
          </c:spPr>
          <c:dLbls>
            <c:dLbl>
              <c:idx val="0"/>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84,62</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92,86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92,31</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58,33</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s>
          <c:cat>
            <c:strRef>
              <c:f>'Chart Data'!$C$2:$C$5</c:f>
              <c:strCache>
                <c:ptCount val="4"/>
                <c:pt idx="0">
                  <c:v>Tổng (52)</c:v>
                </c:pt>
                <c:pt idx="1">
                  <c:v>Đơn giản (14)</c:v>
                </c:pt>
                <c:pt idx="2">
                  <c:v>Trung bình (26)</c:v>
                </c:pt>
                <c:pt idx="3">
                  <c:v>Khó (12)</c:v>
                </c:pt>
              </c:strCache>
            </c:strRef>
          </c:cat>
          <c:val>
            <c:numRef>
              <c:f>'Chart Data'!$D$2:$D$5</c:f>
              <c:numCache>
                <c:formatCode>0.00</c:formatCode>
                <c:ptCount val="4"/>
                <c:pt idx="0">
                  <c:v>84.62</c:v>
                </c:pt>
                <c:pt idx="1">
                  <c:v>92.86</c:v>
                </c:pt>
                <c:pt idx="2">
                  <c:v>92.31</c:v>
                </c:pt>
                <c:pt idx="3">
                  <c:v>58.33</c:v>
                </c:pt>
              </c:numCache>
            </c:numRef>
          </c:val>
        </c:ser>
        <c:ser>
          <c:idx val="2"/>
          <c:order val="2"/>
          <c:tx>
            <c:v>Auto-V-SQL</c:v>
          </c:tx>
          <c:spPr>
            <a:solidFill xmlns:a="http://schemas.openxmlformats.org/drawingml/2006/main">
              <a:srgbClr val="007E80"/>
            </a:solidFill>
          </c:spPr>
          <c:dLbls>
            <c:dLbl>
              <c:idx val="0"/>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82,69</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92,86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88,46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58,33</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s>
          <c:cat>
            <c:strRef>
              <c:f>'Chart Data'!$E$2:$E$5</c:f>
              <c:strCache>
                <c:ptCount val="4"/>
                <c:pt idx="0">
                  <c:v>Tổng (52)</c:v>
                </c:pt>
                <c:pt idx="1">
                  <c:v>Đơn giản (14)</c:v>
                </c:pt>
                <c:pt idx="2">
                  <c:v>Trung bình (26)</c:v>
                </c:pt>
                <c:pt idx="3">
                  <c:v>Khó (12)</c:v>
                </c:pt>
              </c:strCache>
            </c:strRef>
          </c:cat>
          <c:val>
            <c:numRef>
              <c:f>'Chart Data'!$F$2:$F$5</c:f>
              <c:numCache>
                <c:formatCode>0.00</c:formatCode>
                <c:ptCount val="4"/>
                <c:pt idx="0">
                  <c:v>82.69</c:v>
                </c:pt>
                <c:pt idx="1">
                  <c:v>92.86</c:v>
                </c:pt>
                <c:pt idx="2">
                  <c:v>88.46</c:v>
                </c:pt>
                <c:pt idx="3">
                  <c:v>58.33</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5D8"/>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Noto Sans"/>
                <a:ea typeface="Noto Sans"/>
                <a:cs typeface="Noto Sans"/>
              </a:defRPr>
            </a:pPr>
          </a:p>
        </c:txPr>
        <c:crossAx val="48672768"/>
      </c:catAx>
      <c:valAx>
        <c:axId val="48672768"/>
        <c:scaling>
          <c:orientation val="minMax"/>
          <c:max val="100"/>
          <c:min val="0"/>
        </c:scaling>
        <c:delete val="0"/>
        <c:axPos val="l"/>
        <c:majorGridlines>
          <c:spPr>
            <a:ln xmlns:a="http://schemas.openxmlformats.org/drawingml/2006/main" w="9525">
              <a:solidFill>
                <a:srgbClr val="DD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Noto Sans"/>
                <a:ea typeface="Noto Sans"/>
                <a:cs typeface="Noto Sans"/>
              </a:defRPr>
            </a:pPr>
          </a:p>
        </c:txPr>
        <c:crossAx val="48650112"/>
        <c:crossBetween val="between"/>
        <c:majorUnit val="25"/>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Noto Sans"/>
              <a:ea typeface="Noto Sans"/>
              <a:cs typeface="Noto Sans"/>
            </a:defRPr>
          </a:pPr>
        </a:p>
      </c:txPr>
    </c:legend>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C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68E890-9B9B-4A34-8038-2F3C43585BDE}"/>
              </a:ext>
            </a:extLst>
          </p:cNvPr>
          <p:cNvSpPr>
            <a:spLocks xmlns:a="http://schemas.openxmlformats.org/drawingml/2006/main" noGrp="1"/>
          </p:cNvSpPr>
          <p:nvPr/>
        </p:nvSpPr>
        <p:spPr>
          <a:xfrm xmlns:a="http://schemas.openxmlformats.org/drawingml/2006/main">
            <a:off x="685800" y="106680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FFFFFF"/>
                </a:solidFill>
                <a:latin typeface="Noto Sans"/>
                <a:ea typeface="Noto Sans"/>
                <a:cs typeface="Noto Sans"/>
              </a:defRPr>
            </a:pPr>
            <a:r>
              <a:rPr sz="6450" b="1">
                <a:solidFill>
                  <a:srgbClr val="FFFFFF"/>
                </a:solidFill>
                <a:latin typeface="Noto Sans"/>
                <a:ea typeface="Noto Sans"/>
                <a:cs typeface="Noto Sans"/>
              </a:rPr>
              <a:t>V-SQL</a:t>
            </a:r>
          </a:p>
        </p:txBody>
      </p:sp>
      <p:sp>
        <p:nvSpPr>
          <p:cNvPr id="2" name="">
            <a:extLst xmlns:a="http://schemas.openxmlformats.org/drawingml/2006/main">
              <a:ext uri="{FF2B5EF4-FFF2-40B4-BE49-F238E27FC236}">
                <a16:creationId xmlns:a16="http://schemas.microsoft.com/office/drawing/2014/main" id="{D912D1A9-5B88-4996-9819-0F4BDBF8A4C9}"/>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8DADB"/>
                </a:solidFill>
                <a:latin typeface="Noto Sans"/>
                <a:ea typeface="Noto Sans"/>
                <a:cs typeface="Noto Sans"/>
              </a:defRPr>
            </a:pPr>
            <a:r>
              <a:rPr sz="1350" b="0">
                <a:solidFill>
                  <a:srgbClr val="B8DADB"/>
                </a:solidFill>
                <a:latin typeface="Noto Sans"/>
                <a:ea typeface="Noto Sans"/>
                <a:cs typeface="Noto Sans"/>
              </a:rPr>
              <a:t>1 / 12</a:t>
            </a:r>
          </a:p>
        </p:txBody>
      </p:sp>
      <p:sp>
        <p:nvSpPr>
          <p:cNvPr id="3" name="">
            <a:extLst xmlns:a="http://schemas.openxmlformats.org/drawingml/2006/main">
              <a:ext uri="{FF2B5EF4-FFF2-40B4-BE49-F238E27FC236}">
                <a16:creationId xmlns:a16="http://schemas.microsoft.com/office/drawing/2014/main" id="{704982A4-2DB1-497C-976F-B3AE9E69BAAF}"/>
              </a:ext>
            </a:extLst>
          </p:cNvPr>
          <p:cNvSpPr>
            <a:spLocks xmlns:a="http://schemas.openxmlformats.org/drawingml/2006/main" noGrp="1"/>
          </p:cNvSpPr>
          <p:nvPr/>
        </p:nvSpPr>
        <p:spPr>
          <a:xfrm xmlns:a="http://schemas.openxmlformats.org/drawingml/2006/main">
            <a:off x="685800" y="266700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FFFFFF"/>
                </a:solidFill>
                <a:latin typeface="Noto Sans"/>
                <a:ea typeface="Noto Sans"/>
                <a:cs typeface="Noto Sans"/>
              </a:defRPr>
            </a:pPr>
            <a:r>
              <a:rPr sz="3375" b="0">
                <a:solidFill>
                  <a:srgbClr val="FFFFFF"/>
                </a:solidFill>
                <a:latin typeface="Noto Sans"/>
                <a:ea typeface="Noto Sans"/>
                <a:cs typeface="Noto Sans"/>
              </a:rPr>
              <a:t>A View-based Two-stage</a:t>
            </a:r>
          </a:p>
          <a:p xmlns:a="http://schemas.openxmlformats.org/drawingml/2006/main">
            <a:pPr>
              <a:defRPr sz="3375" b="0">
                <a:solidFill>
                  <a:srgbClr val="FFFFFF"/>
                </a:solidFill>
                <a:latin typeface="Noto Sans"/>
                <a:ea typeface="Noto Sans"/>
                <a:cs typeface="Noto Sans"/>
              </a:defRPr>
            </a:pPr>
            <a:r>
              <a:rPr sz="3375" b="0">
                <a:solidFill>
                  <a:srgbClr val="FFFFFF"/>
                </a:solidFill>
                <a:latin typeface="Noto Sans"/>
                <a:ea typeface="Noto Sans"/>
                <a:cs typeface="Noto Sans"/>
              </a:rPr>
              <a:t>Text-to-SQL Framework</a:t>
            </a:r>
          </a:p>
        </p:txBody>
      </p:sp>
      <p:sp>
        <p:nvSpPr>
          <p:cNvPr id="4" name="">
            <a:extLst xmlns:a="http://schemas.openxmlformats.org/drawingml/2006/main">
              <a:ext uri="{FF2B5EF4-FFF2-40B4-BE49-F238E27FC236}">
                <a16:creationId xmlns:a16="http://schemas.microsoft.com/office/drawing/2014/main" id="{820D181D-73A6-48D2-88CD-1C7D957C7088}"/>
              </a:ext>
            </a:extLst>
          </p:cNvPr>
          <p:cNvSpPr>
            <a:spLocks xmlns:a="http://schemas.openxmlformats.org/drawingml/2006/main" noGrp="1"/>
          </p:cNvSpPr>
          <p:nvPr/>
        </p:nvSpPr>
        <p:spPr>
          <a:xfrm xmlns:a="http://schemas.openxmlformats.org/drawingml/2006/main">
            <a:off x="685800" y="43338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8DADB"/>
                </a:solidFill>
                <a:latin typeface="Noto Sans"/>
                <a:ea typeface="Noto Sans"/>
                <a:cs typeface="Noto Sans"/>
              </a:defRPr>
            </a:pPr>
            <a:r>
              <a:rPr sz="2175" b="0">
                <a:solidFill>
                  <a:srgbClr val="B8DADB"/>
                </a:solidFill>
                <a:latin typeface="Noto Sans"/>
                <a:ea typeface="Noto Sans"/>
                <a:cs typeface="Noto Sans"/>
              </a:rPr>
              <a:t>Bài báo của You và cộng sự (2024)</a:t>
            </a:r>
          </a:p>
          <a:p xmlns:a="http://schemas.openxmlformats.org/drawingml/2006/main">
            <a:pPr>
              <a:defRPr sz="2175" b="0">
                <a:solidFill>
                  <a:srgbClr val="B8DADB"/>
                </a:solidFill>
                <a:latin typeface="Noto Sans"/>
                <a:ea typeface="Noto Sans"/>
                <a:cs typeface="Noto Sans"/>
              </a:defRPr>
            </a:pPr>
            <a:r>
              <a:rPr sz="2175" b="0">
                <a:solidFill>
                  <a:srgbClr val="B8DADB"/>
                </a:solidFill>
                <a:latin typeface="Noto Sans"/>
                <a:ea typeface="Noto Sans"/>
                <a:cs typeface="Noto Sans"/>
              </a:rPr>
              <a:t>và thực nghiệm mở rộng Auto-V-SQL</a:t>
            </a:r>
          </a:p>
        </p:txBody>
      </p:sp>
      <p:sp>
        <p:nvSpPr>
          <p:cNvPr id="5" name="">
            <a:extLst xmlns:a="http://schemas.openxmlformats.org/drawingml/2006/main">
              <a:ext uri="{FF2B5EF4-FFF2-40B4-BE49-F238E27FC236}">
                <a16:creationId xmlns:a16="http://schemas.microsoft.com/office/drawing/2014/main" id="{025745E7-F5AB-4A06-8A69-D10230ABABE9}"/>
              </a:ext>
            </a:extLst>
          </p:cNvPr>
          <p:cNvSpPr>
            <a:spLocks xmlns:a="http://schemas.openxmlformats.org/drawingml/2006/main" noGrp="1"/>
          </p:cNvSpPr>
          <p:nvPr/>
        </p:nvSpPr>
        <p:spPr>
          <a:xfrm xmlns:a="http://schemas.openxmlformats.org/drawingml/2006/main">
            <a:off x="685800" y="56769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DADB"/>
                </a:solidFill>
                <a:latin typeface="Noto Sans"/>
                <a:ea typeface="Noto Sans"/>
                <a:cs typeface="Noto Sans"/>
              </a:defRPr>
            </a:pPr>
            <a:r>
              <a:rPr sz="1875" b="0">
                <a:solidFill>
                  <a:srgbClr val="B8DADB"/>
                </a:solidFill>
                <a:latin typeface="Noto Sans"/>
                <a:ea typeface="Noto Sans"/>
                <a:cs typeface="Noto Sans"/>
              </a:rPr>
              <a:t>Trần Quốc Hùng · Hệ cơ sở dữ liệu tiên tiến</a:t>
            </a:r>
          </a:p>
        </p:txBody>
      </p:sp>
    </p:spTree>
    <p:extLst>
      <p:ext uri="{BB962C8B-B14F-4D97-AF65-F5344CB8AC3E}">
        <p14:creationId xmlns:p14="http://schemas.microsoft.com/office/powerpoint/2010/main" val="1619691983"/>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0F6300-7701-4924-9B05-A70E2749FCB8}"/>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Bài báo giải quyết lỗi hiểu sai lược đồ</a:t>
            </a:r>
          </a:p>
        </p:txBody>
      </p:sp>
      <p:sp>
        <p:nvSpPr>
          <p:cNvPr id="2" name="">
            <a:extLst xmlns:a="http://schemas.openxmlformats.org/drawingml/2006/main">
              <a:ext uri="{FF2B5EF4-FFF2-40B4-BE49-F238E27FC236}">
                <a16:creationId xmlns:a16="http://schemas.microsoft.com/office/drawing/2014/main" id="{65BEA528-02C3-4C06-86AC-2E67CA774D0C}"/>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2 / 12</a:t>
            </a:r>
          </a:p>
        </p:txBody>
      </p:sp>
      <p:sp>
        <p:nvSpPr>
          <p:cNvPr id="3" name="">
            <a:extLst xmlns:a="http://schemas.openxmlformats.org/drawingml/2006/main">
              <a:ext uri="{FF2B5EF4-FFF2-40B4-BE49-F238E27FC236}">
                <a16:creationId xmlns:a16="http://schemas.microsoft.com/office/drawing/2014/main" id="{08872BB1-A669-4FFF-B327-B9AAD0143864}"/>
              </a:ext>
            </a:extLst>
          </p:cNvPr>
          <p:cNvSpPr>
            <a:spLocks xmlns:a="http://schemas.openxmlformats.org/drawingml/2006/main" noGrp="1"/>
          </p:cNvSpPr>
          <p:nvPr/>
        </p:nvSpPr>
        <p:spPr>
          <a:xfrm xmlns:a="http://schemas.openxmlformats.org/drawingml/2006/main">
            <a:off x="685800" y="1676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Text-to-SQL</a:t>
            </a:r>
          </a:p>
        </p:txBody>
      </p:sp>
      <p:sp>
        <p:nvSpPr>
          <p:cNvPr id="4" name="">
            <a:extLst xmlns:a="http://schemas.openxmlformats.org/drawingml/2006/main">
              <a:ext uri="{FF2B5EF4-FFF2-40B4-BE49-F238E27FC236}">
                <a16:creationId xmlns:a16="http://schemas.microsoft.com/office/drawing/2014/main" id="{EE7C2922-182B-49DF-BC02-126C02AC87D1}"/>
              </a:ext>
            </a:extLst>
          </p:cNvPr>
          <p:cNvSpPr>
            <a:spLocks xmlns:a="http://schemas.openxmlformats.org/drawingml/2006/main" noGrp="1"/>
          </p:cNvSpPr>
          <p:nvPr/>
        </p:nvSpPr>
        <p:spPr>
          <a:xfrm xmlns:a="http://schemas.openxmlformats.org/drawingml/2006/main">
            <a:off x="685800" y="22288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Đầu vào: câu hỏi tự nhiên và lược đồ cơ sở dữ liệu.</a:t>
            </a:r>
          </a:p>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Đầu ra: SQL chạy được và trả về kết quả đúng.</a:t>
            </a:r>
          </a:p>
        </p:txBody>
      </p:sp>
      <p:sp>
        <p:nvSpPr>
          <p:cNvPr id="5" name="">
            <a:extLst xmlns:a="http://schemas.openxmlformats.org/drawingml/2006/main">
              <a:ext uri="{FF2B5EF4-FFF2-40B4-BE49-F238E27FC236}">
                <a16:creationId xmlns:a16="http://schemas.microsoft.com/office/drawing/2014/main" id="{634BBEDD-F2B8-49AF-BCB5-D53260D6A6EC}"/>
              </a:ext>
            </a:extLst>
          </p:cNvPr>
          <p:cNvSpPr>
            <a:spLocks xmlns:a="http://schemas.openxmlformats.org/drawingml/2006/main" noGrp="1"/>
          </p:cNvSpPr>
          <p:nvPr/>
        </p:nvSpPr>
        <p:spPr>
          <a:xfrm xmlns:a="http://schemas.openxmlformats.org/drawingml/2006/main">
            <a:off x="685800" y="36099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Khó khăn tác giả nhắm tới</a:t>
            </a:r>
          </a:p>
        </p:txBody>
      </p:sp>
      <p:sp>
        <p:nvSpPr>
          <p:cNvPr id="6" name="">
            <a:extLst xmlns:a="http://schemas.openxmlformats.org/drawingml/2006/main">
              <a:ext uri="{FF2B5EF4-FFF2-40B4-BE49-F238E27FC236}">
                <a16:creationId xmlns:a16="http://schemas.microsoft.com/office/drawing/2014/main" id="{A19C075B-C110-45AB-BD1D-15BFD3E5562A}"/>
              </a:ext>
            </a:extLst>
          </p:cNvPr>
          <p:cNvSpPr>
            <a:spLocks xmlns:a="http://schemas.openxmlformats.org/drawingml/2006/main" noGrp="1"/>
          </p:cNvSpPr>
          <p:nvPr/>
        </p:nvSpPr>
        <p:spPr>
          <a:xfrm xmlns:a="http://schemas.openxmlformats.org/drawingml/2006/main">
            <a:off x="685800" y="41433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Nhiều bảng nối qua khóa ngoại khiến LLM nhầm bảng, cột</a:t>
            </a:r>
          </a:p>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hoặc điều kiện JOIN khi sinh SQL.</a:t>
            </a:r>
          </a:p>
        </p:txBody>
      </p:sp>
      <p:sp>
        <p:nvSpPr>
          <p:cNvPr id="7" name="">
            <a:extLst xmlns:a="http://schemas.openxmlformats.org/drawingml/2006/main">
              <a:ext uri="{FF2B5EF4-FFF2-40B4-BE49-F238E27FC236}">
                <a16:creationId xmlns:a16="http://schemas.microsoft.com/office/drawing/2014/main" id="{E3F7D8FD-4757-4E4D-BA0E-7B3BDCB9037D}"/>
              </a:ext>
            </a:extLst>
          </p:cNvPr>
          <p:cNvSpPr>
            <a:spLocks xmlns:a="http://schemas.openxmlformats.org/drawingml/2006/main" noGrp="1"/>
          </p:cNvSpPr>
          <p:nvPr/>
        </p:nvSpPr>
        <p:spPr>
          <a:xfrm xmlns:a="http://schemas.openxmlformats.org/drawingml/2006/main">
            <a:off x="685800" y="55435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Ví dụ: dùng hero_attribute.attribute_name, trong khi</a:t>
            </a:r>
          </a:p>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attribute_name thuộc bảng attribute.</a:t>
            </a:r>
          </a:p>
        </p:txBody>
      </p:sp>
    </p:spTree>
    <p:extLst>
      <p:ext uri="{BB962C8B-B14F-4D97-AF65-F5344CB8AC3E}">
        <p14:creationId xmlns:p14="http://schemas.microsoft.com/office/powerpoint/2010/main" val="657016029"/>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AA8B88-6ED1-4A37-BC2B-255743429946}"/>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Ý tưởng chính: biểu diễn lược đồ bằng view</a:t>
            </a:r>
          </a:p>
        </p:txBody>
      </p:sp>
      <p:sp>
        <p:nvSpPr>
          <p:cNvPr id="2" name="">
            <a:extLst xmlns:a="http://schemas.openxmlformats.org/drawingml/2006/main">
              <a:ext uri="{FF2B5EF4-FFF2-40B4-BE49-F238E27FC236}">
                <a16:creationId xmlns:a16="http://schemas.microsoft.com/office/drawing/2014/main" id="{F68EB4EB-7B02-49F3-8264-2FBADE70F622}"/>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3 / 12</a:t>
            </a:r>
          </a:p>
        </p:txBody>
      </p:sp>
      <p:sp>
        <p:nvSpPr>
          <p:cNvPr id="3" name="">
            <a:extLst xmlns:a="http://schemas.openxmlformats.org/drawingml/2006/main">
              <a:ext uri="{FF2B5EF4-FFF2-40B4-BE49-F238E27FC236}">
                <a16:creationId xmlns:a16="http://schemas.microsoft.com/office/drawing/2014/main" id="{70D76482-360B-4C8B-945B-06A2CA5F5EE4}"/>
              </a:ext>
            </a:extLst>
          </p:cNvPr>
          <p:cNvSpPr>
            <a:spLocks xmlns:a="http://schemas.openxmlformats.org/drawingml/2006/main" noGrp="1"/>
          </p:cNvSpPr>
          <p:nvPr/>
        </p:nvSpPr>
        <p:spPr>
          <a:xfrm xmlns:a="http://schemas.openxmlformats.org/drawingml/2006/main">
            <a:off x="685800" y="1714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Lược đồ bảng gốc</a:t>
            </a:r>
          </a:p>
        </p:txBody>
      </p:sp>
      <p:sp>
        <p:nvSpPr>
          <p:cNvPr id="4" name="">
            <a:extLst xmlns:a="http://schemas.openxmlformats.org/drawingml/2006/main">
              <a:ext uri="{FF2B5EF4-FFF2-40B4-BE49-F238E27FC236}">
                <a16:creationId xmlns:a16="http://schemas.microsoft.com/office/drawing/2014/main" id="{033060DD-4D43-4AD5-9F3F-306B4E7E1784}"/>
              </a:ext>
            </a:extLst>
          </p:cNvPr>
          <p:cNvSpPr>
            <a:spLocks xmlns:a="http://schemas.openxmlformats.org/drawingml/2006/main" noGrp="1"/>
          </p:cNvSpPr>
          <p:nvPr/>
        </p:nvSpPr>
        <p:spPr>
          <a:xfrm xmlns:a="http://schemas.openxmlformats.org/drawingml/2006/main">
            <a:off x="685800" y="231457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superhero</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  superhero_name</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  eye_colour_id</a:t>
            </a:r>
          </a:p>
          <a:p xmlns:a="http://schemas.openxmlformats.org/drawingml/2006/main">
            <a:r>
              <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colour</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  id, colour</a:t>
            </a:r>
          </a:p>
        </p:txBody>
      </p:sp>
      <p:sp>
        <p:nvSpPr>
          <p:cNvPr id="5" name="">
            <a:extLst xmlns:a="http://schemas.openxmlformats.org/drawingml/2006/main">
              <a:ext uri="{FF2B5EF4-FFF2-40B4-BE49-F238E27FC236}">
                <a16:creationId xmlns:a16="http://schemas.microsoft.com/office/drawing/2014/main" id="{A52008FA-7A8A-46F1-A9D5-73456B2C34B5}"/>
              </a:ext>
            </a:extLst>
          </p:cNvPr>
          <p:cNvSpPr>
            <a:spLocks xmlns:a="http://schemas.openxmlformats.org/drawingml/2006/main" noGrp="1"/>
          </p:cNvSpPr>
          <p:nvPr/>
        </p:nvSpPr>
        <p:spPr>
          <a:xfrm xmlns:a="http://schemas.openxmlformats.org/drawingml/2006/main">
            <a:off x="6400800" y="1714500"/>
            <a:ext cx="510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Lược đồ view cho LLM</a:t>
            </a:r>
          </a:p>
        </p:txBody>
      </p:sp>
      <p:sp>
        <p:nvSpPr>
          <p:cNvPr id="6" name="">
            <a:extLst xmlns:a="http://schemas.openxmlformats.org/drawingml/2006/main">
              <a:ext uri="{FF2B5EF4-FFF2-40B4-BE49-F238E27FC236}">
                <a16:creationId xmlns:a16="http://schemas.microsoft.com/office/drawing/2014/main" id="{AE276E4B-7D7D-44F1-9437-74352AE7B09B}"/>
              </a:ext>
            </a:extLst>
          </p:cNvPr>
          <p:cNvSpPr>
            <a:spLocks xmlns:a="http://schemas.openxmlformats.org/drawingml/2006/main" noGrp="1"/>
          </p:cNvSpPr>
          <p:nvPr/>
        </p:nvSpPr>
        <p:spPr>
          <a:xfrm xmlns:a="http://schemas.openxmlformats.org/drawingml/2006/main">
            <a:off x="6400800" y="2314575"/>
            <a:ext cx="5105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C3D"/>
                </a:solidFill>
                <a:latin typeface="Noto Sans"/>
                <a:ea typeface="Noto Sans"/>
                <a:cs typeface="Noto Sans"/>
              </a:defRPr>
            </a:pPr>
            <a:r>
              <a:rPr sz="2325" b="1">
                <a:solidFill>
                  <a:srgbClr val="132C3D"/>
                </a:solidFill>
                <a:latin typeface="Noto Sans"/>
                <a:ea typeface="Noto Sans"/>
                <a:cs typeface="Noto Sans"/>
              </a:rPr>
              <a:t>v_superhero</a:t>
            </a:r>
          </a:p>
          <a:p xmlns:a="http://schemas.openxmlformats.org/drawingml/2006/main">
            <a:pPr>
              <a:defRPr sz="2325" b="1">
                <a:solidFill>
                  <a:srgbClr val="132C3D"/>
                </a:solidFill>
                <a:latin typeface="Noto Sans"/>
                <a:ea typeface="Noto Sans"/>
                <a:cs typeface="Noto Sans"/>
              </a:defRPr>
            </a:pPr>
            <a:r>
              <a:rPr sz="2325" b="1">
                <a:solidFill>
                  <a:srgbClr val="132C3D"/>
                </a:solidFill>
                <a:latin typeface="Noto Sans"/>
                <a:ea typeface="Noto Sans"/>
                <a:cs typeface="Noto Sans"/>
              </a:rPr>
              <a:t>  superhero_name</a:t>
            </a:r>
          </a:p>
          <a:p xmlns:a="http://schemas.openxmlformats.org/drawingml/2006/main">
            <a:pPr>
              <a:defRPr sz="2325" b="1">
                <a:solidFill>
                  <a:srgbClr val="132C3D"/>
                </a:solidFill>
                <a:latin typeface="Noto Sans"/>
                <a:ea typeface="Noto Sans"/>
                <a:cs typeface="Noto Sans"/>
              </a:defRPr>
            </a:pPr>
            <a:r>
              <a:rPr sz="2325" b="1">
                <a:solidFill>
                  <a:srgbClr val="132C3D"/>
                </a:solidFill>
                <a:latin typeface="Noto Sans"/>
                <a:ea typeface="Noto Sans"/>
                <a:cs typeface="Noto Sans"/>
              </a:rPr>
              <a:t>  eye_colour</a:t>
            </a:r>
          </a:p>
        </p:txBody>
      </p:sp>
      <p:sp>
        <p:nvSpPr>
          <p:cNvPr id="7" name="">
            <a:extLst xmlns:a="http://schemas.openxmlformats.org/drawingml/2006/main">
              <a:ext uri="{FF2B5EF4-FFF2-40B4-BE49-F238E27FC236}">
                <a16:creationId xmlns:a16="http://schemas.microsoft.com/office/drawing/2014/main" id="{4D873C73-8229-4CFE-86AB-FE8967CC160D}"/>
              </a:ext>
            </a:extLst>
          </p:cNvPr>
          <p:cNvSpPr>
            <a:spLocks xmlns:a="http://schemas.openxmlformats.org/drawingml/2006/main" noGrp="1"/>
          </p:cNvSpPr>
          <p:nvPr/>
        </p:nvSpPr>
        <p:spPr>
          <a:xfrm xmlns:a="http://schemas.openxmlformats.org/drawingml/2006/main">
            <a:off x="6400800" y="4114800"/>
            <a:ext cx="5105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Quy tắc ánh xạ giữ lại phép nối:</a:t>
            </a:r>
          </a:p>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superhero.eye_colour_id = colour.id</a:t>
            </a:r>
          </a:p>
        </p:txBody>
      </p:sp>
      <p:sp>
        <p:nvSpPr>
          <p:cNvPr id="8" name="">
            <a:extLst xmlns:a="http://schemas.openxmlformats.org/drawingml/2006/main">
              <a:ext uri="{FF2B5EF4-FFF2-40B4-BE49-F238E27FC236}">
                <a16:creationId xmlns:a16="http://schemas.microsoft.com/office/drawing/2014/main" id="{DA9B76DE-3165-4FE1-A166-70BA4EFEEF62}"/>
              </a:ext>
            </a:extLst>
          </p:cNvPr>
          <p:cNvSpPr>
            <a:spLocks xmlns:a="http://schemas.openxmlformats.org/drawingml/2006/main" noGrp="1"/>
          </p:cNvSpPr>
          <p:nvPr/>
        </p:nvSpPr>
        <p:spPr>
          <a:xfrm xmlns:a="http://schemas.openxmlformats.org/drawingml/2006/main">
            <a:off x="685800" y="54578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07E80"/>
                </a:solidFill>
                <a:latin typeface="Noto Sans"/>
                <a:ea typeface="Noto Sans"/>
                <a:cs typeface="Noto Sans"/>
              </a:defRPr>
            </a:pPr>
            <a:r>
              <a:rPr sz="2250" b="0">
                <a:solidFill>
                  <a:srgbClr val="007E80"/>
                </a:solidFill>
                <a:latin typeface="Noto Sans"/>
                <a:ea typeface="Noto Sans"/>
                <a:cs typeface="Noto Sans"/>
              </a:rPr>
              <a:t>LLM dùng thuộc tính màu mắt trực tiếp trong SQL trung gian.</a:t>
            </a:r>
          </a:p>
        </p:txBody>
      </p:sp>
      <p:sp>
        <p:nvSpPr>
          <p:cNvPr id="9" name="">
            <a:extLst xmlns:a="http://schemas.openxmlformats.org/drawingml/2006/main">
              <a:ext uri="{FF2B5EF4-FFF2-40B4-BE49-F238E27FC236}">
                <a16:creationId xmlns:a16="http://schemas.microsoft.com/office/drawing/2014/main" id="{3FCDCE5E-1988-4C7B-B04F-A9A5D8054A4F}"/>
              </a:ext>
            </a:extLst>
          </p:cNvPr>
          <p:cNvSpPr>
            <a:spLocks xmlns:a="http://schemas.openxmlformats.org/drawingml/2006/main" noGrp="1"/>
          </p:cNvSpPr>
          <p:nvPr/>
        </p:nvSpPr>
        <p:spPr>
          <a:xfrm xmlns:a="http://schemas.openxmlformats.org/drawingml/2006/main">
            <a:off x="685800" y="60483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5"/>
                </a:solidFill>
                <a:latin typeface="Noto Sans"/>
                <a:ea typeface="Noto Sans"/>
                <a:cs typeface="Noto Sans"/>
              </a:defRPr>
            </a:pPr>
            <a:r>
              <a:rPr sz="1650" b="0">
                <a:solidFill>
                  <a:srgbClr val="526775"/>
                </a:solidFill>
                <a:latin typeface="Noto Sans"/>
                <a:ea typeface="Noto Sans"/>
                <a:cs typeface="Noto Sans"/>
              </a:rPr>
              <a:t>View nằm trong prompt. Các bảng và khóa ngoại trong DB vẫn giữ nguyên.</a:t>
            </a:r>
          </a:p>
        </p:txBody>
      </p:sp>
    </p:spTree>
    <p:extLst>
      <p:ext uri="{BB962C8B-B14F-4D97-AF65-F5344CB8AC3E}">
        <p14:creationId xmlns:p14="http://schemas.microsoft.com/office/powerpoint/2010/main" val="415666110"/>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37A521-C476-4012-9953-128B821E443E}"/>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V-SQL gồm hai giai đoạn sinh SQL</a:t>
            </a:r>
          </a:p>
        </p:txBody>
      </p:sp>
      <p:sp>
        <p:nvSpPr>
          <p:cNvPr id="2" name="">
            <a:extLst xmlns:a="http://schemas.openxmlformats.org/drawingml/2006/main">
              <a:ext uri="{FF2B5EF4-FFF2-40B4-BE49-F238E27FC236}">
                <a16:creationId xmlns:a16="http://schemas.microsoft.com/office/drawing/2014/main" id="{9FB8A8B3-BB0C-4C61-B234-CD96414280DE}"/>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4 / 12</a:t>
            </a:r>
          </a:p>
        </p:txBody>
      </p:sp>
      <p:sp>
        <p:nvSpPr>
          <p:cNvPr id="3" name="">
            <a:extLst xmlns:a="http://schemas.openxmlformats.org/drawingml/2006/main">
              <a:ext uri="{FF2B5EF4-FFF2-40B4-BE49-F238E27FC236}">
                <a16:creationId xmlns:a16="http://schemas.microsoft.com/office/drawing/2014/main" id="{D46A32BB-C8C2-4123-B71B-234E26D43501}"/>
              </a:ext>
            </a:extLst>
          </p:cNvPr>
          <p:cNvSpPr>
            <a:spLocks xmlns:a="http://schemas.openxmlformats.org/drawingml/2006/main" noGrp="1"/>
          </p:cNvSpPr>
          <p:nvPr/>
        </p:nvSpPr>
        <p:spPr>
          <a:xfrm xmlns:a="http://schemas.openxmlformats.org/drawingml/2006/main">
            <a:off x="685800" y="16478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07E80"/>
                </a:solidFill>
                <a:latin typeface="Noto Sans"/>
                <a:ea typeface="Noto Sans"/>
                <a:cs typeface="Noto Sans"/>
              </a:defRPr>
            </a:pPr>
            <a:r>
              <a:rPr sz="3375" b="1">
                <a:solidFill>
                  <a:srgbClr val="007E80"/>
                </a:solidFill>
                <a:latin typeface="Noto Sans"/>
                <a:ea typeface="Noto Sans"/>
                <a:cs typeface="Noto Sans"/>
              </a:rPr>
              <a:t>A</a:t>
            </a:r>
          </a:p>
        </p:txBody>
      </p:sp>
      <p:sp>
        <p:nvSpPr>
          <p:cNvPr id="4" name="">
            <a:extLst xmlns:a="http://schemas.openxmlformats.org/drawingml/2006/main">
              <a:ext uri="{FF2B5EF4-FFF2-40B4-BE49-F238E27FC236}">
                <a16:creationId xmlns:a16="http://schemas.microsoft.com/office/drawing/2014/main" id="{5AA40F0E-250A-4B70-AB49-71C0D4B6BF9E}"/>
              </a:ext>
            </a:extLst>
          </p:cNvPr>
          <p:cNvSpPr>
            <a:spLocks xmlns:a="http://schemas.openxmlformats.org/drawingml/2006/main" noGrp="1"/>
          </p:cNvSpPr>
          <p:nvPr/>
        </p:nvSpPr>
        <p:spPr>
          <a:xfrm xmlns:a="http://schemas.openxmlformats.org/drawingml/2006/main">
            <a:off x="1714500" y="1647825"/>
            <a:ext cx="979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2C3D"/>
                </a:solidFill>
                <a:latin typeface="Noto Sans"/>
                <a:ea typeface="Noto Sans"/>
                <a:cs typeface="Noto Sans"/>
              </a:defRPr>
            </a:pPr>
            <a:r>
              <a:rPr sz="2250" b="1">
                <a:solidFill>
                  <a:srgbClr val="132C3D"/>
                </a:solidFill>
                <a:latin typeface="Noto Sans"/>
                <a:ea typeface="Noto Sans"/>
                <a:cs typeface="Noto Sans"/>
              </a:rPr>
              <a:t>Chuẩn bị: Table Mapping</a:t>
            </a:r>
          </a:p>
        </p:txBody>
      </p:sp>
      <p:sp>
        <p:nvSpPr>
          <p:cNvPr id="5" name="">
            <a:extLst xmlns:a="http://schemas.openxmlformats.org/drawingml/2006/main">
              <a:ext uri="{FF2B5EF4-FFF2-40B4-BE49-F238E27FC236}">
                <a16:creationId xmlns:a16="http://schemas.microsoft.com/office/drawing/2014/main" id="{63C8CD28-E159-4EFB-A536-2DD914535597}"/>
              </a:ext>
            </a:extLst>
          </p:cNvPr>
          <p:cNvSpPr>
            <a:spLocks xmlns:a="http://schemas.openxmlformats.org/drawingml/2006/main" noGrp="1"/>
          </p:cNvSpPr>
          <p:nvPr/>
        </p:nvSpPr>
        <p:spPr>
          <a:xfrm xmlns:a="http://schemas.openxmlformats.org/drawingml/2006/main">
            <a:off x="1714500" y="2162175"/>
            <a:ext cx="979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Tạo mô tả view và lưu quy tắc ánh xạ về bảng gốc.</a:t>
            </a:r>
          </a:p>
        </p:txBody>
      </p:sp>
      <p:sp>
        <p:nvSpPr>
          <p:cNvPr id="6" name="">
            <a:extLst xmlns:a="http://schemas.openxmlformats.org/drawingml/2006/main">
              <a:ext uri="{FF2B5EF4-FFF2-40B4-BE49-F238E27FC236}">
                <a16:creationId xmlns:a16="http://schemas.microsoft.com/office/drawing/2014/main" id="{EC84B982-43A8-4412-83A8-FA542E104923}"/>
              </a:ext>
            </a:extLst>
          </p:cNvPr>
          <p:cNvSpPr>
            <a:spLocks xmlns:a="http://schemas.openxmlformats.org/drawingml/2006/main" noGrp="1"/>
          </p:cNvSpPr>
          <p:nvPr/>
        </p:nvSpPr>
        <p:spPr>
          <a:xfrm xmlns:a="http://schemas.openxmlformats.org/drawingml/2006/main">
            <a:off x="685800" y="2933700"/>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07E80"/>
                </a:solidFill>
                <a:latin typeface="Noto Sans"/>
                <a:ea typeface="Noto Sans"/>
                <a:cs typeface="Noto Sans"/>
              </a:defRPr>
            </a:pPr>
            <a:r>
              <a:rPr sz="3375" b="1">
                <a:solidFill>
                  <a:srgbClr val="007E80"/>
                </a:solidFill>
                <a:latin typeface="Noto Sans"/>
                <a:ea typeface="Noto Sans"/>
                <a:cs typeface="Noto Sans"/>
              </a:rPr>
              <a:t>1</a:t>
            </a:r>
          </a:p>
        </p:txBody>
      </p:sp>
      <p:sp>
        <p:nvSpPr>
          <p:cNvPr id="7" name="">
            <a:extLst xmlns:a="http://schemas.openxmlformats.org/drawingml/2006/main">
              <a:ext uri="{FF2B5EF4-FFF2-40B4-BE49-F238E27FC236}">
                <a16:creationId xmlns:a16="http://schemas.microsoft.com/office/drawing/2014/main" id="{DAF7C840-7E5C-466C-A7C2-B59E29F9FD68}"/>
              </a:ext>
            </a:extLst>
          </p:cNvPr>
          <p:cNvSpPr>
            <a:spLocks xmlns:a="http://schemas.openxmlformats.org/drawingml/2006/main" noGrp="1"/>
          </p:cNvSpPr>
          <p:nvPr/>
        </p:nvSpPr>
        <p:spPr>
          <a:xfrm xmlns:a="http://schemas.openxmlformats.org/drawingml/2006/main">
            <a:off x="1714500" y="2933700"/>
            <a:ext cx="979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2C3D"/>
                </a:solidFill>
                <a:latin typeface="Noto Sans"/>
                <a:ea typeface="Noto Sans"/>
                <a:cs typeface="Noto Sans"/>
              </a:defRPr>
            </a:pPr>
            <a:r>
              <a:rPr sz="2250" b="1">
                <a:solidFill>
                  <a:srgbClr val="132C3D"/>
                </a:solidFill>
                <a:latin typeface="Noto Sans"/>
                <a:ea typeface="Noto Sans"/>
                <a:cs typeface="Noto Sans"/>
              </a:rPr>
              <a:t>Giai đoạn 1: Dummy SQL Generation</a:t>
            </a:r>
          </a:p>
        </p:txBody>
      </p:sp>
      <p:sp>
        <p:nvSpPr>
          <p:cNvPr id="8" name="">
            <a:extLst xmlns:a="http://schemas.openxmlformats.org/drawingml/2006/main">
              <a:ext uri="{FF2B5EF4-FFF2-40B4-BE49-F238E27FC236}">
                <a16:creationId xmlns:a16="http://schemas.microsoft.com/office/drawing/2014/main" id="{1A35FD3A-B87A-40FC-B56D-4C601C4A597D}"/>
              </a:ext>
            </a:extLst>
          </p:cNvPr>
          <p:cNvSpPr>
            <a:spLocks xmlns:a="http://schemas.openxmlformats.org/drawingml/2006/main" noGrp="1"/>
          </p:cNvSpPr>
          <p:nvPr/>
        </p:nvSpPr>
        <p:spPr>
          <a:xfrm xmlns:a="http://schemas.openxmlformats.org/drawingml/2006/main">
            <a:off x="1714500" y="3448050"/>
            <a:ext cx="979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LLM viết SQL trung gian trên các view liên quan đến câu hỏi.</a:t>
            </a:r>
          </a:p>
        </p:txBody>
      </p:sp>
      <p:sp>
        <p:nvSpPr>
          <p:cNvPr id="9" name="">
            <a:extLst xmlns:a="http://schemas.openxmlformats.org/drawingml/2006/main">
              <a:ext uri="{FF2B5EF4-FFF2-40B4-BE49-F238E27FC236}">
                <a16:creationId xmlns:a16="http://schemas.microsoft.com/office/drawing/2014/main" id="{3D30A025-EFC6-4FE7-A981-94F432EB64FB}"/>
              </a:ext>
            </a:extLst>
          </p:cNvPr>
          <p:cNvSpPr>
            <a:spLocks xmlns:a="http://schemas.openxmlformats.org/drawingml/2006/main" noGrp="1"/>
          </p:cNvSpPr>
          <p:nvPr/>
        </p:nvSpPr>
        <p:spPr>
          <a:xfrm xmlns:a="http://schemas.openxmlformats.org/drawingml/2006/main">
            <a:off x="685800" y="421957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07E80"/>
                </a:solidFill>
                <a:latin typeface="Noto Sans"/>
                <a:ea typeface="Noto Sans"/>
                <a:cs typeface="Noto Sans"/>
              </a:defRPr>
            </a:pPr>
            <a:r>
              <a:rPr sz="3375" b="1">
                <a:solidFill>
                  <a:srgbClr val="007E80"/>
                </a:solidFill>
                <a:latin typeface="Noto Sans"/>
                <a:ea typeface="Noto Sans"/>
                <a:cs typeface="Noto Sans"/>
              </a:rPr>
              <a:t>2</a:t>
            </a:r>
          </a:p>
        </p:txBody>
      </p:sp>
      <p:sp>
        <p:nvSpPr>
          <p:cNvPr id="10" name="">
            <a:extLst xmlns:a="http://schemas.openxmlformats.org/drawingml/2006/main">
              <a:ext uri="{FF2B5EF4-FFF2-40B4-BE49-F238E27FC236}">
                <a16:creationId xmlns:a16="http://schemas.microsoft.com/office/drawing/2014/main" id="{50BA2717-90C4-43E2-88C5-BFFEB76C39C1}"/>
              </a:ext>
            </a:extLst>
          </p:cNvPr>
          <p:cNvSpPr>
            <a:spLocks xmlns:a="http://schemas.openxmlformats.org/drawingml/2006/main" noGrp="1"/>
          </p:cNvSpPr>
          <p:nvPr/>
        </p:nvSpPr>
        <p:spPr>
          <a:xfrm xmlns:a="http://schemas.openxmlformats.org/drawingml/2006/main">
            <a:off x="1714500" y="4219575"/>
            <a:ext cx="979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2C3D"/>
                </a:solidFill>
                <a:latin typeface="Noto Sans"/>
                <a:ea typeface="Noto Sans"/>
                <a:cs typeface="Noto Sans"/>
              </a:defRPr>
            </a:pPr>
            <a:r>
              <a:rPr sz="2250" b="1">
                <a:solidFill>
                  <a:srgbClr val="132C3D"/>
                </a:solidFill>
                <a:latin typeface="Noto Sans"/>
                <a:ea typeface="Noto Sans"/>
                <a:cs typeface="Noto Sans"/>
              </a:rPr>
              <a:t>Giai đoạn 2: SQL Reconstruction</a:t>
            </a:r>
          </a:p>
        </p:txBody>
      </p:sp>
      <p:sp>
        <p:nvSpPr>
          <p:cNvPr id="11" name="">
            <a:extLst xmlns:a="http://schemas.openxmlformats.org/drawingml/2006/main">
              <a:ext uri="{FF2B5EF4-FFF2-40B4-BE49-F238E27FC236}">
                <a16:creationId xmlns:a16="http://schemas.microsoft.com/office/drawing/2014/main" id="{12D5F0F8-B043-4AB5-ACD7-69006FCEEA0A}"/>
              </a:ext>
            </a:extLst>
          </p:cNvPr>
          <p:cNvSpPr>
            <a:spLocks xmlns:a="http://schemas.openxmlformats.org/drawingml/2006/main" noGrp="1"/>
          </p:cNvSpPr>
          <p:nvPr/>
        </p:nvSpPr>
        <p:spPr>
          <a:xfrm xmlns:a="http://schemas.openxmlformats.org/drawingml/2006/main">
            <a:off x="1714500" y="4733925"/>
            <a:ext cx="979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LLM khôi phục SQL trên bảng gốc và các JOIN cần thiết.</a:t>
            </a:r>
          </a:p>
        </p:txBody>
      </p:sp>
      <p:sp>
        <p:nvSpPr>
          <p:cNvPr id="12" name="">
            <a:extLst xmlns:a="http://schemas.openxmlformats.org/drawingml/2006/main">
              <a:ext uri="{FF2B5EF4-FFF2-40B4-BE49-F238E27FC236}">
                <a16:creationId xmlns:a16="http://schemas.microsoft.com/office/drawing/2014/main" id="{5936E822-2D4B-4448-8B3A-00725291E3F5}"/>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7E80"/>
                </a:solidFill>
                <a:latin typeface="Noto Sans"/>
                <a:ea typeface="Noto Sans"/>
                <a:cs typeface="Noto Sans"/>
              </a:defRPr>
            </a:pPr>
            <a:r>
              <a:rPr sz="1950" b="0">
                <a:solidFill>
                  <a:srgbClr val="007E80"/>
                </a:solidFill>
                <a:latin typeface="Noto Sans"/>
                <a:ea typeface="Noto Sans"/>
                <a:cs typeface="Noto Sans"/>
              </a:rPr>
              <a:t>Dummy SQL không chạy trực tiếp. Chỉ SQL cuối truy vấn cơ sở dữ liệu.</a:t>
            </a:r>
          </a:p>
        </p:txBody>
      </p:sp>
    </p:spTree>
    <p:extLst>
      <p:ext uri="{BB962C8B-B14F-4D97-AF65-F5344CB8AC3E}">
        <p14:creationId xmlns:p14="http://schemas.microsoft.com/office/powerpoint/2010/main" val="114205298"/>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C2FA3A-A8B2-49C7-A417-649E7147215A}"/>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Ví dụ trong bài: mắt xanh và tóc vàng</a:t>
            </a:r>
          </a:p>
        </p:txBody>
      </p:sp>
      <p:sp>
        <p:nvSpPr>
          <p:cNvPr id="2" name="">
            <a:extLst xmlns:a="http://schemas.openxmlformats.org/drawingml/2006/main">
              <a:ext uri="{FF2B5EF4-FFF2-40B4-BE49-F238E27FC236}">
                <a16:creationId xmlns:a16="http://schemas.microsoft.com/office/drawing/2014/main" id="{2DCF9F67-6C4B-44B5-9BC1-33DB2995E66D}"/>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5 / 12</a:t>
            </a:r>
          </a:p>
        </p:txBody>
      </p:sp>
      <p:sp>
        <p:nvSpPr>
          <p:cNvPr id="3" name="">
            <a:extLst xmlns:a="http://schemas.openxmlformats.org/drawingml/2006/main">
              <a:ext uri="{FF2B5EF4-FFF2-40B4-BE49-F238E27FC236}">
                <a16:creationId xmlns:a16="http://schemas.microsoft.com/office/drawing/2014/main" id="{7DCFFA3C-360F-42B2-9928-FDE9185914DC}"/>
              </a:ext>
            </a:extLst>
          </p:cNvPr>
          <p:cNvSpPr>
            <a:spLocks xmlns:a="http://schemas.openxmlformats.org/drawingml/2006/main" noGrp="1"/>
          </p:cNvSpPr>
          <p:nvPr/>
        </p:nvSpPr>
        <p:spPr>
          <a:xfrm xmlns:a="http://schemas.openxmlformats.org/drawingml/2006/main">
            <a:off x="685800" y="16764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Dummy SQL trên view</a:t>
            </a:r>
          </a:p>
        </p:txBody>
      </p:sp>
      <p:sp>
        <p:nvSpPr>
          <p:cNvPr id="4" name="">
            <a:extLst xmlns:a="http://schemas.openxmlformats.org/drawingml/2006/main">
              <a:ext uri="{FF2B5EF4-FFF2-40B4-BE49-F238E27FC236}">
                <a16:creationId xmlns:a16="http://schemas.microsoft.com/office/drawing/2014/main" id="{CB407146-112D-4067-9562-E00EF78CA2BA}"/>
              </a:ext>
            </a:extLst>
          </p:cNvPr>
          <p:cNvSpPr>
            <a:spLocks xmlns:a="http://schemas.openxmlformats.org/drawingml/2006/main" noGrp="1"/>
          </p:cNvSpPr>
          <p:nvPr/>
        </p:nvSpPr>
        <p:spPr>
          <a:xfrm xmlns:a="http://schemas.openxmlformats.org/drawingml/2006/main">
            <a:off x="685800" y="2305050"/>
            <a:ext cx="5048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SELECT superhero_name</a:t>
            </a:r>
          </a:p>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FROM v_superhero</a:t>
            </a:r>
          </a:p>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WHERE eye_colour = 'Blue'</a:t>
            </a:r>
          </a:p>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  AND hair_colour = 'Blond';</a:t>
            </a:r>
          </a:p>
        </p:txBody>
      </p:sp>
      <p:sp>
        <p:nvSpPr>
          <p:cNvPr id="5" name="">
            <a:extLst xmlns:a="http://schemas.openxmlformats.org/drawingml/2006/main">
              <a:ext uri="{FF2B5EF4-FFF2-40B4-BE49-F238E27FC236}">
                <a16:creationId xmlns:a16="http://schemas.microsoft.com/office/drawing/2014/main" id="{FF517CD3-D3F5-43AA-B472-2C08DB238E03}"/>
              </a:ext>
            </a:extLst>
          </p:cNvPr>
          <p:cNvSpPr>
            <a:spLocks xmlns:a="http://schemas.openxmlformats.org/drawingml/2006/main" noGrp="1"/>
          </p:cNvSpPr>
          <p:nvPr/>
        </p:nvSpPr>
        <p:spPr>
          <a:xfrm xmlns:a="http://schemas.openxmlformats.org/drawingml/2006/main">
            <a:off x="6286500" y="167640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SQL cuối trên bảng gốc</a:t>
            </a:r>
          </a:p>
        </p:txBody>
      </p:sp>
      <p:sp>
        <p:nvSpPr>
          <p:cNvPr id="6" name="">
            <a:extLst xmlns:a="http://schemas.openxmlformats.org/drawingml/2006/main">
              <a:ext uri="{FF2B5EF4-FFF2-40B4-BE49-F238E27FC236}">
                <a16:creationId xmlns:a16="http://schemas.microsoft.com/office/drawing/2014/main" id="{0C8FC2D6-718B-45DE-A080-B631C541367D}"/>
              </a:ext>
            </a:extLst>
          </p:cNvPr>
          <p:cNvSpPr>
            <a:spLocks xmlns:a="http://schemas.openxmlformats.org/drawingml/2006/main" noGrp="1"/>
          </p:cNvSpPr>
          <p:nvPr/>
        </p:nvSpPr>
        <p:spPr>
          <a:xfrm xmlns:a="http://schemas.openxmlformats.org/drawingml/2006/main">
            <a:off x="6286500" y="2257425"/>
            <a:ext cx="52197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SELECT s.superhero_name</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FROM superhero AS s</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JOIN colour AS e</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  ON s.eye_colour_id = e.id</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JOIN colour AS h</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  ON s.hair_colour_id = h.id</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WHERE e.colour = 'Blue'</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  AND h.colour = 'Blond';</a:t>
            </a:r>
          </a:p>
        </p:txBody>
      </p:sp>
      <p:sp>
        <p:nvSpPr>
          <p:cNvPr id="7" name="">
            <a:extLst xmlns:a="http://schemas.openxmlformats.org/drawingml/2006/main">
              <a:ext uri="{FF2B5EF4-FFF2-40B4-BE49-F238E27FC236}">
                <a16:creationId xmlns:a16="http://schemas.microsoft.com/office/drawing/2014/main" id="{886B34EA-D218-4B1E-8AF5-8C17C03C4788}"/>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View giúp bước đầu viết điều kiện lọc mà chưa phải xử lý hai JOIN.</a:t>
            </a:r>
          </a:p>
        </p:txBody>
      </p:sp>
      <p:sp>
        <p:nvSpPr>
          <p:cNvPr id="8" name="">
            <a:extLst xmlns:a="http://schemas.openxmlformats.org/drawingml/2006/main">
              <a:ext uri="{FF2B5EF4-FFF2-40B4-BE49-F238E27FC236}">
                <a16:creationId xmlns:a16="http://schemas.microsoft.com/office/drawing/2014/main" id="{C8A71226-16D3-4556-9585-FB604D4B3F02}"/>
              </a:ext>
            </a:extLst>
          </p:cNvPr>
          <p:cNvSpPr>
            <a:spLocks xmlns:a="http://schemas.openxmlformats.org/drawingml/2006/main" noGrp="1"/>
          </p:cNvSpPr>
          <p:nvPr/>
        </p:nvSpPr>
        <p:spPr>
          <a:xfrm xmlns:a="http://schemas.openxmlformats.org/drawingml/2006/main">
            <a:off x="685800" y="6191250"/>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Câu hỏi đã chỉnh theo điều kiện SQL trong Bảng 4.</a:t>
            </a:r>
          </a:p>
        </p:txBody>
      </p:sp>
    </p:spTree>
    <p:extLst>
      <p:ext uri="{BB962C8B-B14F-4D97-AF65-F5344CB8AC3E}">
        <p14:creationId xmlns:p14="http://schemas.microsoft.com/office/powerpoint/2010/main" val="853119833"/>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13C589-140A-4539-A164-85090864EF6C}"/>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Kết quả tác giả báo cáo trên BIRD</a:t>
            </a:r>
          </a:p>
        </p:txBody>
      </p:sp>
      <p:sp>
        <p:nvSpPr>
          <p:cNvPr id="2" name="">
            <a:extLst xmlns:a="http://schemas.openxmlformats.org/drawingml/2006/main">
              <a:ext uri="{FF2B5EF4-FFF2-40B4-BE49-F238E27FC236}">
                <a16:creationId xmlns:a16="http://schemas.microsoft.com/office/drawing/2014/main" id="{93F5B0E4-A5FA-4C75-8FE3-940D75DCA6D9}"/>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6 / 12</a:t>
            </a:r>
          </a:p>
        </p:txBody>
      </p:sp>
      <p:sp>
        <p:nvSpPr>
          <p:cNvPr id="3" name="">
            <a:extLst xmlns:a="http://schemas.openxmlformats.org/drawingml/2006/main">
              <a:ext uri="{FF2B5EF4-FFF2-40B4-BE49-F238E27FC236}">
                <a16:creationId xmlns:a16="http://schemas.microsoft.com/office/drawing/2014/main" id="{AE062B86-07A4-4569-A9C6-7A1F50C98EDB}"/>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500 câu hỏi, 11 DB. EX = tỷ lệ SQL trả về kết quả khớp SQL chuẩn.</a:t>
            </a:r>
          </a:p>
        </p:txBody>
      </p:sp>
      <p:graphicFrame>
        <p:nvGraphicFramePr>
          <p:cNvPr id="9" name=""/>
          <p:cNvGraphicFramePr/>
          <p:nvPr/>
        </p:nvGraphicFramePr>
        <p:xfrm>
          <a:off xmlns:a="http://schemas.openxmlformats.org/drawingml/2006/main" x="685800" y="2428875"/>
          <a:ext xmlns:a="http://schemas.openxmlformats.org/drawingml/2006/main" cx="10820400" cy="2762250"/>
        </p:xfrm>
        <a:graphic xmlns:a="http://schemas.openxmlformats.org/drawingml/2006/main">
          <a:graphicData uri="http://schemas.openxmlformats.org/drawingml/2006/table">
            <a:tbl>
              <a:tblPr/>
              <a:tblGrid>
                <a:gridCol w="2819400"/>
                <a:gridCol w="2381250"/>
                <a:gridCol w="2762250"/>
                <a:gridCol w="2857500"/>
              </a:tblGrid>
              <a:tr h="552450">
                <a:tc>
                  <a:txBody>
                    <a:bodyPr/>
                    <a:lstStyle/>
                    <a:p>
                      <a:r>
                        <a:rPr sz="1875" b="1">
                          <a:solidFill>
                            <a:srgbClr val="FFFFFF"/>
                          </a:solidFill>
                          <a:latin typeface="Noto Sans"/>
                          <a:ea typeface="Noto Sans"/>
                          <a:cs typeface="Noto Sans"/>
                        </a:rPr>
                        <a:t>EX tổng (%)</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GPT-4</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GPT-4 Turbo</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GPT-3.5 Turbo</a:t>
                      </a:r>
                    </a:p>
                  </a:txBody>
                  <a:tcPr marL="91440" marR="91440" marT="45720" marB="45720">
                    <a:solidFill>
                      <a:srgbClr val="132C3D"/>
                    </a:solidFill>
                  </a:tcPr>
                </a:tc>
              </a:tr>
              <a:tr h="552450">
                <a:tc>
                  <a:txBody>
                    <a:bodyPr/>
                    <a:lstStyle/>
                    <a:p>
                      <a:r>
                        <a:rPr sz="1875" b="0">
                          <a:solidFill>
                            <a:srgbClr val="132C3D"/>
                          </a:solidFill>
                          <a:latin typeface="Noto Sans"/>
                          <a:ea typeface="Noto Sans"/>
                          <a:cs typeface="Noto Sans"/>
                        </a:rPr>
                        <a:t>DIN-SQL</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47,20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47,80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39,20</a:t>
                      </a:r>
                    </a:p>
                  </a:txBody>
                  <a:tcPr marL="91440" marR="91440" marT="45720" marB="45720">
                    <a:solidFill>
                      <a:srgbClr val="F7F7F2"/>
                    </a:solidFill>
                  </a:tcPr>
                </a:tc>
              </a:tr>
              <a:tr h="552450">
                <a:tc>
                  <a:txBody>
                    <a:bodyPr/>
                    <a:lstStyle/>
                    <a:p>
                      <a:r>
                        <a:rPr sz="1875" b="0">
                          <a:solidFill>
                            <a:srgbClr val="132C3D"/>
                          </a:solidFill>
                          <a:latin typeface="Noto Sans"/>
                          <a:ea typeface="Noto Sans"/>
                          <a:cs typeface="Noto Sans"/>
                        </a:rPr>
                        <a:t>DAIL-SQL</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49,00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48,80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42,00</a:t>
                      </a:r>
                    </a:p>
                  </a:txBody>
                  <a:tcPr marL="91440" marR="91440" marT="45720" marB="45720">
                    <a:solidFill>
                      <a:srgbClr val="F7F7F2"/>
                    </a:solidFill>
                  </a:tcPr>
                </a:tc>
              </a:tr>
              <a:tr h="552450">
                <a:tc>
                  <a:txBody>
                    <a:bodyPr/>
                    <a:lstStyle/>
                    <a:p>
                      <a:r>
                        <a:rPr sz="1875" b="0">
                          <a:solidFill>
                            <a:srgbClr val="132C3D"/>
                          </a:solidFill>
                          <a:latin typeface="Noto Sans"/>
                          <a:ea typeface="Noto Sans"/>
                          <a:cs typeface="Noto Sans"/>
                        </a:rPr>
                        <a:t>TA-SQL</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56,17</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50,16</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43,80</a:t>
                      </a:r>
                    </a:p>
                  </a:txBody>
                  <a:tcPr marL="91440" marR="91440" marT="45720" marB="45720">
                    <a:solidFill>
                      <a:srgbClr val="F7F7F2"/>
                    </a:solidFill>
                  </a:tcPr>
                </a:tc>
              </a:tr>
              <a:tr h="552450">
                <a:tc>
                  <a:txBody>
                    <a:bodyPr/>
                    <a:lstStyle/>
                    <a:p>
                      <a:r>
                        <a:rPr sz="1875" b="1">
                          <a:solidFill>
                            <a:srgbClr val="132C3D"/>
                          </a:solidFill>
                          <a:latin typeface="Noto Sans"/>
                          <a:ea typeface="Noto Sans"/>
                          <a:cs typeface="Noto Sans"/>
                        </a:rPr>
                        <a:t>V-SQL</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56,00</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52,80</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45,40</a:t>
                      </a:r>
                    </a:p>
                  </a:txBody>
                  <a:tcPr marL="91440" marR="91440" marT="45720" marB="45720">
                    <a:solidFill>
                      <a:srgbClr val="E4F0ED"/>
                    </a:solidFill>
                  </a:tcPr>
                </a:tc>
              </a:tr>
            </a:tbl>
          </a:graphicData>
        </a:graphic>
      </p:graphicFrame>
      <p:sp>
        <p:nvSpPr>
          <p:cNvPr id="5" name="">
            <a:extLst xmlns:a="http://schemas.openxmlformats.org/drawingml/2006/main">
              <a:ext uri="{FF2B5EF4-FFF2-40B4-BE49-F238E27FC236}">
                <a16:creationId xmlns:a16="http://schemas.microsoft.com/office/drawing/2014/main" id="{863E6BC5-5033-4FC9-8605-681D872EDBE9}"/>
              </a:ext>
            </a:extLst>
          </p:cNvPr>
          <p:cNvSpPr>
            <a:spLocks xmlns:a="http://schemas.openxmlformats.org/drawingml/2006/main" noGrp="1"/>
          </p:cNvSpPr>
          <p:nvPr/>
        </p:nvSpPr>
        <p:spPr>
          <a:xfrm xmlns:a="http://schemas.openxmlformats.org/drawingml/2006/main">
            <a:off x="685800" y="5505450"/>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So với TA-SQL: +2,64 điểm % trên GPT-4 Turbo,</a:t>
            </a:r>
          </a:p>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+1,60 điểm % trên GPT-3.5 Turbo, −0,17 điểm % trên GPT-4.</a:t>
            </a:r>
          </a:p>
        </p:txBody>
      </p:sp>
    </p:spTree>
    <p:extLst>
      <p:ext uri="{BB962C8B-B14F-4D97-AF65-F5344CB8AC3E}">
        <p14:creationId xmlns:p14="http://schemas.microsoft.com/office/powerpoint/2010/main" val="933385478"/>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F71C11-18E2-4957-8408-28465DEB1066}"/>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Hạn chế bài báo và phần đồ án mở rộng</a:t>
            </a:r>
          </a:p>
        </p:txBody>
      </p:sp>
      <p:sp>
        <p:nvSpPr>
          <p:cNvPr id="2" name="">
            <a:extLst xmlns:a="http://schemas.openxmlformats.org/drawingml/2006/main">
              <a:ext uri="{FF2B5EF4-FFF2-40B4-BE49-F238E27FC236}">
                <a16:creationId xmlns:a16="http://schemas.microsoft.com/office/drawing/2014/main" id="{86B6A458-8C39-41AF-9399-C9E3ABBFE6BB}"/>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7 / 12</a:t>
            </a:r>
          </a:p>
        </p:txBody>
      </p:sp>
      <p:sp>
        <p:nvSpPr>
          <p:cNvPr id="3" name="">
            <a:extLst xmlns:a="http://schemas.openxmlformats.org/drawingml/2006/main">
              <a:ext uri="{FF2B5EF4-FFF2-40B4-BE49-F238E27FC236}">
                <a16:creationId xmlns:a16="http://schemas.microsoft.com/office/drawing/2014/main" id="{FD201D5F-AC6A-4BB8-827D-15EA22C0F5CB}"/>
              </a:ext>
            </a:extLst>
          </p:cNvPr>
          <p:cNvSpPr>
            <a:spLocks xmlns:a="http://schemas.openxmlformats.org/drawingml/2006/main" noGrp="1"/>
          </p:cNvSpPr>
          <p:nvPr/>
        </p:nvSpPr>
        <p:spPr>
          <a:xfrm xmlns:a="http://schemas.openxmlformats.org/drawingml/2006/main">
            <a:off x="685800" y="1676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Bài báo còn hạn chế</a:t>
            </a:r>
          </a:p>
        </p:txBody>
      </p:sp>
      <p:sp>
        <p:nvSpPr>
          <p:cNvPr id="4" name="">
            <a:extLst xmlns:a="http://schemas.openxmlformats.org/drawingml/2006/main">
              <a:ext uri="{FF2B5EF4-FFF2-40B4-BE49-F238E27FC236}">
                <a16:creationId xmlns:a16="http://schemas.microsoft.com/office/drawing/2014/main" id="{4467D599-DA7E-46FB-8C2B-FC765F55C847}"/>
              </a:ext>
            </a:extLst>
          </p:cNvPr>
          <p:cNvSpPr>
            <a:spLocks xmlns:a="http://schemas.openxmlformats.org/drawingml/2006/main" noGrp="1"/>
          </p:cNvSpPr>
          <p:nvPr/>
        </p:nvSpPr>
        <p:spPr>
          <a:xfrm xmlns:a="http://schemas.openxmlformats.org/drawingml/2006/main">
            <a:off x="685800" y="223837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View thiết kế thủ công, tham khảo JOIN trong SQL chuẩn.</a:t>
            </a:r>
          </a:p>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Tạo nhiều view hơn chưa chắc giúp chọn đúng view.</a:t>
            </a:r>
          </a:p>
        </p:txBody>
      </p:sp>
      <p:sp>
        <p:nvSpPr>
          <p:cNvPr id="5" name="">
            <a:extLst xmlns:a="http://schemas.openxmlformats.org/drawingml/2006/main">
              <a:ext uri="{FF2B5EF4-FFF2-40B4-BE49-F238E27FC236}">
                <a16:creationId xmlns:a16="http://schemas.microsoft.com/office/drawing/2014/main" id="{0A97EFEE-7493-4444-A4B4-856AD84AAEAD}"/>
              </a:ext>
            </a:extLst>
          </p:cNvPr>
          <p:cNvSpPr>
            <a:spLocks xmlns:a="http://schemas.openxmlformats.org/drawingml/2006/main" noGrp="1"/>
          </p:cNvSpPr>
          <p:nvPr/>
        </p:nvSpPr>
        <p:spPr>
          <a:xfrm xmlns:a="http://schemas.openxmlformats.org/drawingml/2006/main">
            <a:off x="685800" y="37433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Đồ án đề xuất Auto-V-SQL</a:t>
            </a:r>
          </a:p>
        </p:txBody>
      </p:sp>
      <p:sp>
        <p:nvSpPr>
          <p:cNvPr id="6" name="">
            <a:extLst xmlns:a="http://schemas.openxmlformats.org/drawingml/2006/main">
              <a:ext uri="{FF2B5EF4-FFF2-40B4-BE49-F238E27FC236}">
                <a16:creationId xmlns:a16="http://schemas.microsoft.com/office/drawing/2014/main" id="{A171A943-FFC8-485A-A8DB-8259166BBD97}"/>
              </a:ext>
            </a:extLst>
          </p:cNvPr>
          <p:cNvSpPr>
            <a:spLocks xmlns:a="http://schemas.openxmlformats.org/drawingml/2006/main" noGrp="1"/>
          </p:cNvSpPr>
          <p:nvPr/>
        </p:nvSpPr>
        <p:spPr>
          <a:xfrm xmlns:a="http://schemas.openxmlformats.org/drawingml/2006/main">
            <a:off x="685800" y="429577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Python đọc metadata khóa ngoại SQLite để tự sinh view.</a:t>
            </a:r>
          </a:p>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Ghép bảng đích có tối đa 4 cột bằng LEFT JOIN.</a:t>
            </a:r>
          </a:p>
        </p:txBody>
      </p:sp>
      <p:sp>
        <p:nvSpPr>
          <p:cNvPr id="7" name="">
            <a:extLst xmlns:a="http://schemas.openxmlformats.org/drawingml/2006/main">
              <a:ext uri="{FF2B5EF4-FFF2-40B4-BE49-F238E27FC236}">
                <a16:creationId xmlns:a16="http://schemas.microsoft.com/office/drawing/2014/main" id="{F0F1BF99-A631-4ADB-8412-7C10AA2A0030}"/>
              </a:ext>
            </a:extLst>
          </p:cNvPr>
          <p:cNvSpPr>
            <a:spLocks xmlns:a="http://schemas.openxmlformats.org/drawingml/2006/main" noGrp="1"/>
          </p:cNvSpPr>
          <p:nvPr/>
        </p:nvSpPr>
        <p:spPr>
          <a:xfrm xmlns:a="http://schemas.openxmlformats.org/drawingml/2006/main">
            <a:off x="685800" y="57816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Giữ hai giai đoạn sinh SQL của V-SQL. Khâu tạo view chỉ dùng metadata.</a:t>
            </a:r>
          </a:p>
        </p:txBody>
      </p:sp>
    </p:spTree>
    <p:extLst>
      <p:ext uri="{BB962C8B-B14F-4D97-AF65-F5344CB8AC3E}">
        <p14:creationId xmlns:p14="http://schemas.microsoft.com/office/powerpoint/2010/main" val="664009285"/>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0CB5BD-5271-49ED-9342-72715202545C}"/>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Thuật toán tạo view tự động trong project</a:t>
            </a:r>
          </a:p>
        </p:txBody>
      </p:sp>
      <p:sp>
        <p:nvSpPr>
          <p:cNvPr id="2" name="">
            <a:extLst xmlns:a="http://schemas.openxmlformats.org/drawingml/2006/main">
              <a:ext uri="{FF2B5EF4-FFF2-40B4-BE49-F238E27FC236}">
                <a16:creationId xmlns:a16="http://schemas.microsoft.com/office/drawing/2014/main" id="{5C259D1B-25DD-4BED-AD1E-5110D0BB5192}"/>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8 / 12</a:t>
            </a:r>
          </a:p>
        </p:txBody>
      </p:sp>
      <p:sp>
        <p:nvSpPr>
          <p:cNvPr id="3" name="">
            <a:extLst xmlns:a="http://schemas.openxmlformats.org/drawingml/2006/main">
              <a:ext uri="{FF2B5EF4-FFF2-40B4-BE49-F238E27FC236}">
                <a16:creationId xmlns:a16="http://schemas.microsoft.com/office/drawing/2014/main" id="{A69D79DA-2508-498F-8AC6-18C351E0ABF4}"/>
              </a:ext>
            </a:extLst>
          </p:cNvPr>
          <p:cNvSpPr>
            <a:spLocks xmlns:a="http://schemas.openxmlformats.org/drawingml/2006/main" noGrp="1"/>
          </p:cNvSpPr>
          <p:nvPr/>
        </p:nvSpPr>
        <p:spPr>
          <a:xfrm xmlns:a="http://schemas.openxmlformats.org/drawingml/2006/main">
            <a:off x="685800" y="15811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E80"/>
                </a:solidFill>
                <a:latin typeface="Noto Sans"/>
                <a:ea typeface="Noto Sans"/>
                <a:cs typeface="Noto Sans"/>
              </a:defRPr>
            </a:pPr>
            <a:r>
              <a:rPr sz="2925" b="1">
                <a:solidFill>
                  <a:srgbClr val="007E80"/>
                </a:solidFill>
                <a:latin typeface="Noto Sans"/>
                <a:ea typeface="Noto Sans"/>
                <a:cs typeface="Noto Sans"/>
              </a:rPr>
              <a:t>1</a:t>
            </a:r>
          </a:p>
        </p:txBody>
      </p:sp>
      <p:sp>
        <p:nvSpPr>
          <p:cNvPr id="4" name="">
            <a:extLst xmlns:a="http://schemas.openxmlformats.org/drawingml/2006/main">
              <a:ext uri="{FF2B5EF4-FFF2-40B4-BE49-F238E27FC236}">
                <a16:creationId xmlns:a16="http://schemas.microsoft.com/office/drawing/2014/main" id="{EE9E4F8F-DB2D-4774-A0DC-DA869CD02614}"/>
              </a:ext>
            </a:extLst>
          </p:cNvPr>
          <p:cNvSpPr>
            <a:spLocks xmlns:a="http://schemas.openxmlformats.org/drawingml/2006/main" noGrp="1"/>
          </p:cNvSpPr>
          <p:nvPr/>
        </p:nvSpPr>
        <p:spPr>
          <a:xfrm xmlns:a="http://schemas.openxmlformats.org/drawingml/2006/main">
            <a:off x="1666875" y="1581150"/>
            <a:ext cx="9839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C3D"/>
                </a:solidFill>
                <a:latin typeface="Noto Sans"/>
                <a:ea typeface="Noto Sans"/>
                <a:cs typeface="Noto Sans"/>
              </a:defRPr>
            </a:pPr>
            <a:r>
              <a:rPr sz="2175" b="1">
                <a:solidFill>
                  <a:srgbClr val="132C3D"/>
                </a:solidFill>
                <a:latin typeface="Noto Sans"/>
                <a:ea typeface="Noto Sans"/>
                <a:cs typeface="Noto Sans"/>
              </a:rPr>
              <a:t>Đọc metadata</a:t>
            </a:r>
          </a:p>
        </p:txBody>
      </p:sp>
      <p:sp>
        <p:nvSpPr>
          <p:cNvPr id="5" name="">
            <a:extLst xmlns:a="http://schemas.openxmlformats.org/drawingml/2006/main">
              <a:ext uri="{FF2B5EF4-FFF2-40B4-BE49-F238E27FC236}">
                <a16:creationId xmlns:a16="http://schemas.microsoft.com/office/drawing/2014/main" id="{F638C962-BBF1-40B5-B76B-16AFD9D66B44}"/>
              </a:ext>
            </a:extLst>
          </p:cNvPr>
          <p:cNvSpPr>
            <a:spLocks xmlns:a="http://schemas.openxmlformats.org/drawingml/2006/main" noGrp="1"/>
          </p:cNvSpPr>
          <p:nvPr/>
        </p:nvSpPr>
        <p:spPr>
          <a:xfrm xmlns:a="http://schemas.openxmlformats.org/drawingml/2006/main">
            <a:off x="1666875" y="2028825"/>
            <a:ext cx="9839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Lấy bảng, cột và khóa ngoại bằng các lệnh PRAGMA của SQLite.</a:t>
            </a:r>
          </a:p>
        </p:txBody>
      </p:sp>
      <p:sp>
        <p:nvSpPr>
          <p:cNvPr id="6" name="">
            <a:extLst xmlns:a="http://schemas.openxmlformats.org/drawingml/2006/main">
              <a:ext uri="{FF2B5EF4-FFF2-40B4-BE49-F238E27FC236}">
                <a16:creationId xmlns:a16="http://schemas.microsoft.com/office/drawing/2014/main" id="{622868D8-B542-44DE-8F32-95466F3DF120}"/>
              </a:ext>
            </a:extLst>
          </p:cNvPr>
          <p:cNvSpPr>
            <a:spLocks xmlns:a="http://schemas.openxmlformats.org/drawingml/2006/main" noGrp="1"/>
          </p:cNvSpPr>
          <p:nvPr/>
        </p:nvSpPr>
        <p:spPr>
          <a:xfrm xmlns:a="http://schemas.openxmlformats.org/drawingml/2006/main">
            <a:off x="685800" y="26003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E80"/>
                </a:solidFill>
                <a:latin typeface="Noto Sans"/>
                <a:ea typeface="Noto Sans"/>
                <a:cs typeface="Noto Sans"/>
              </a:defRPr>
            </a:pPr>
            <a:r>
              <a:rPr sz="2925" b="1">
                <a:solidFill>
                  <a:srgbClr val="007E80"/>
                </a:solidFill>
                <a:latin typeface="Noto Sans"/>
                <a:ea typeface="Noto Sans"/>
                <a:cs typeface="Noto Sans"/>
              </a:rPr>
              <a:t>2</a:t>
            </a:r>
          </a:p>
        </p:txBody>
      </p:sp>
      <p:sp>
        <p:nvSpPr>
          <p:cNvPr id="7" name="">
            <a:extLst xmlns:a="http://schemas.openxmlformats.org/drawingml/2006/main">
              <a:ext uri="{FF2B5EF4-FFF2-40B4-BE49-F238E27FC236}">
                <a16:creationId xmlns:a16="http://schemas.microsoft.com/office/drawing/2014/main" id="{9C24A5DC-9DE6-4729-9894-966A287AD2B0}"/>
              </a:ext>
            </a:extLst>
          </p:cNvPr>
          <p:cNvSpPr>
            <a:spLocks xmlns:a="http://schemas.openxmlformats.org/drawingml/2006/main" noGrp="1"/>
          </p:cNvSpPr>
          <p:nvPr/>
        </p:nvSpPr>
        <p:spPr>
          <a:xfrm xmlns:a="http://schemas.openxmlformats.org/drawingml/2006/main">
            <a:off x="1666875" y="2600325"/>
            <a:ext cx="9839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C3D"/>
                </a:solidFill>
                <a:latin typeface="Noto Sans"/>
                <a:ea typeface="Noto Sans"/>
                <a:cs typeface="Noto Sans"/>
              </a:defRPr>
            </a:pPr>
            <a:r>
              <a:rPr sz="2175" b="1">
                <a:solidFill>
                  <a:srgbClr val="132C3D"/>
                </a:solidFill>
                <a:latin typeface="Noto Sans"/>
                <a:ea typeface="Noto Sans"/>
                <a:cs typeface="Noto Sans"/>
              </a:rPr>
              <a:t>Duyệt từng khóa ngoại</a:t>
            </a:r>
          </a:p>
        </p:txBody>
      </p:sp>
      <p:sp>
        <p:nvSpPr>
          <p:cNvPr id="8" name="">
            <a:extLst xmlns:a="http://schemas.openxmlformats.org/drawingml/2006/main">
              <a:ext uri="{FF2B5EF4-FFF2-40B4-BE49-F238E27FC236}">
                <a16:creationId xmlns:a16="http://schemas.microsoft.com/office/drawing/2014/main" id="{B00E8C58-7721-481A-8E4D-76230EACFEE4}"/>
              </a:ext>
            </a:extLst>
          </p:cNvPr>
          <p:cNvSpPr>
            <a:spLocks xmlns:a="http://schemas.openxmlformats.org/drawingml/2006/main" noGrp="1"/>
          </p:cNvSpPr>
          <p:nvPr/>
        </p:nvSpPr>
        <p:spPr>
          <a:xfrm xmlns:a="http://schemas.openxmlformats.org/drawingml/2006/main">
            <a:off x="1666875" y="3048000"/>
            <a:ext cx="9839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Chỉ ghép bảng đích có tối đa 4 cột, bằng LEFT JOIN theo khóa ngoại.</a:t>
            </a:r>
          </a:p>
        </p:txBody>
      </p:sp>
      <p:sp>
        <p:nvSpPr>
          <p:cNvPr id="9" name="">
            <a:extLst xmlns:a="http://schemas.openxmlformats.org/drawingml/2006/main">
              <a:ext uri="{FF2B5EF4-FFF2-40B4-BE49-F238E27FC236}">
                <a16:creationId xmlns:a16="http://schemas.microsoft.com/office/drawing/2014/main" id="{38014B97-A64A-49F4-A66A-13FE900B427A}"/>
              </a:ext>
            </a:extLst>
          </p:cNvPr>
          <p:cNvSpPr>
            <a:spLocks xmlns:a="http://schemas.openxmlformats.org/drawingml/2006/main" noGrp="1"/>
          </p:cNvSpPr>
          <p:nvPr/>
        </p:nvSpPr>
        <p:spPr>
          <a:xfrm xmlns:a="http://schemas.openxmlformats.org/drawingml/2006/main">
            <a:off x="685800" y="36195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E80"/>
                </a:solidFill>
                <a:latin typeface="Noto Sans"/>
                <a:ea typeface="Noto Sans"/>
                <a:cs typeface="Noto Sans"/>
              </a:defRPr>
            </a:pPr>
            <a:r>
              <a:rPr sz="2925" b="1">
                <a:solidFill>
                  <a:srgbClr val="007E80"/>
                </a:solidFill>
                <a:latin typeface="Noto Sans"/>
                <a:ea typeface="Noto Sans"/>
                <a:cs typeface="Noto Sans"/>
              </a:rPr>
              <a:t>3</a:t>
            </a:r>
          </a:p>
        </p:txBody>
      </p:sp>
      <p:sp>
        <p:nvSpPr>
          <p:cNvPr id="10" name="">
            <a:extLst xmlns:a="http://schemas.openxmlformats.org/drawingml/2006/main">
              <a:ext uri="{FF2B5EF4-FFF2-40B4-BE49-F238E27FC236}">
                <a16:creationId xmlns:a16="http://schemas.microsoft.com/office/drawing/2014/main" id="{7915638A-C294-44D7-BA75-C1DC50B66F61}"/>
              </a:ext>
            </a:extLst>
          </p:cNvPr>
          <p:cNvSpPr>
            <a:spLocks xmlns:a="http://schemas.openxmlformats.org/drawingml/2006/main" noGrp="1"/>
          </p:cNvSpPr>
          <p:nvPr/>
        </p:nvSpPr>
        <p:spPr>
          <a:xfrm xmlns:a="http://schemas.openxmlformats.org/drawingml/2006/main">
            <a:off x="1666875" y="3619500"/>
            <a:ext cx="9839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C3D"/>
                </a:solidFill>
                <a:latin typeface="Noto Sans"/>
                <a:ea typeface="Noto Sans"/>
                <a:cs typeface="Noto Sans"/>
              </a:defRPr>
            </a:pPr>
            <a:r>
              <a:rPr sz="2175" b="1">
                <a:solidFill>
                  <a:srgbClr val="132C3D"/>
                </a:solidFill>
                <a:latin typeface="Noto Sans"/>
                <a:ea typeface="Noto Sans"/>
                <a:cs typeface="Noto Sans"/>
              </a:rPr>
              <a:t>Gom cột và đặt tên</a:t>
            </a:r>
          </a:p>
        </p:txBody>
      </p:sp>
      <p:sp>
        <p:nvSpPr>
          <p:cNvPr id="11" name="">
            <a:extLst xmlns:a="http://schemas.openxmlformats.org/drawingml/2006/main">
              <a:ext uri="{FF2B5EF4-FFF2-40B4-BE49-F238E27FC236}">
                <a16:creationId xmlns:a16="http://schemas.microsoft.com/office/drawing/2014/main" id="{A6F02CAC-7C89-4DCE-8C35-C6FCE55C18CA}"/>
              </a:ext>
            </a:extLst>
          </p:cNvPr>
          <p:cNvSpPr>
            <a:spLocks xmlns:a="http://schemas.openxmlformats.org/drawingml/2006/main" noGrp="1"/>
          </p:cNvSpPr>
          <p:nvPr/>
        </p:nvSpPr>
        <p:spPr>
          <a:xfrm xmlns:a="http://schemas.openxmlformats.org/drawingml/2006/main">
            <a:off x="1666875" y="4067175"/>
            <a:ext cx="9839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Giữ cột bảng chính, thêm thuộc tính bảng đích, đặt alias theo tên khóa.</a:t>
            </a:r>
          </a:p>
        </p:txBody>
      </p:sp>
      <p:sp>
        <p:nvSpPr>
          <p:cNvPr id="12" name="">
            <a:extLst xmlns:a="http://schemas.openxmlformats.org/drawingml/2006/main">
              <a:ext uri="{FF2B5EF4-FFF2-40B4-BE49-F238E27FC236}">
                <a16:creationId xmlns:a16="http://schemas.microsoft.com/office/drawing/2014/main" id="{4A9861F1-8EB6-4287-8299-DCC847DB796C}"/>
              </a:ext>
            </a:extLst>
          </p:cNvPr>
          <p:cNvSpPr>
            <a:spLocks xmlns:a="http://schemas.openxmlformats.org/drawingml/2006/main" noGrp="1"/>
          </p:cNvSpPr>
          <p:nvPr/>
        </p:nvSpPr>
        <p:spPr>
          <a:xfrm xmlns:a="http://schemas.openxmlformats.org/drawingml/2006/main">
            <a:off x="685800" y="46386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E80"/>
                </a:solidFill>
                <a:latin typeface="Noto Sans"/>
                <a:ea typeface="Noto Sans"/>
                <a:cs typeface="Noto Sans"/>
              </a:defRPr>
            </a:pPr>
            <a:r>
              <a:rPr sz="2925" b="1">
                <a:solidFill>
                  <a:srgbClr val="007E80"/>
                </a:solidFill>
                <a:latin typeface="Noto Sans"/>
                <a:ea typeface="Noto Sans"/>
                <a:cs typeface="Noto Sans"/>
              </a:rPr>
              <a:t>4</a:t>
            </a:r>
          </a:p>
        </p:txBody>
      </p:sp>
      <p:sp>
        <p:nvSpPr>
          <p:cNvPr id="13" name="">
            <a:extLst xmlns:a="http://schemas.openxmlformats.org/drawingml/2006/main">
              <a:ext uri="{FF2B5EF4-FFF2-40B4-BE49-F238E27FC236}">
                <a16:creationId xmlns:a16="http://schemas.microsoft.com/office/drawing/2014/main" id="{4CD744C9-9C6A-4E9A-ABA9-5E03CC3ADBF8}"/>
              </a:ext>
            </a:extLst>
          </p:cNvPr>
          <p:cNvSpPr>
            <a:spLocks xmlns:a="http://schemas.openxmlformats.org/drawingml/2006/main" noGrp="1"/>
          </p:cNvSpPr>
          <p:nvPr/>
        </p:nvSpPr>
        <p:spPr>
          <a:xfrm xmlns:a="http://schemas.openxmlformats.org/drawingml/2006/main">
            <a:off x="1666875" y="4638675"/>
            <a:ext cx="9839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C3D"/>
                </a:solidFill>
                <a:latin typeface="Noto Sans"/>
                <a:ea typeface="Noto Sans"/>
                <a:cs typeface="Noto Sans"/>
              </a:defRPr>
            </a:pPr>
            <a:r>
              <a:rPr sz="2175" b="1">
                <a:solidFill>
                  <a:srgbClr val="132C3D"/>
                </a:solidFill>
                <a:latin typeface="Noto Sans"/>
                <a:ea typeface="Noto Sans"/>
                <a:cs typeface="Noto Sans"/>
              </a:rPr>
              <a:t>Xuất định nghĩa view</a:t>
            </a:r>
          </a:p>
        </p:txBody>
      </p:sp>
      <p:sp>
        <p:nvSpPr>
          <p:cNvPr id="14" name="">
            <a:extLst xmlns:a="http://schemas.openxmlformats.org/drawingml/2006/main">
              <a:ext uri="{FF2B5EF4-FFF2-40B4-BE49-F238E27FC236}">
                <a16:creationId xmlns:a16="http://schemas.microsoft.com/office/drawing/2014/main" id="{672EA222-1E14-4F50-9436-ACE462856B18}"/>
              </a:ext>
            </a:extLst>
          </p:cNvPr>
          <p:cNvSpPr>
            <a:spLocks xmlns:a="http://schemas.openxmlformats.org/drawingml/2006/main" noGrp="1"/>
          </p:cNvSpPr>
          <p:nvPr/>
        </p:nvSpPr>
        <p:spPr>
          <a:xfrm xmlns:a="http://schemas.openxmlformats.org/drawingml/2006/main">
            <a:off x="1666875" y="5086350"/>
            <a:ext cx="9839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Tạo v_&lt;tên bảng&gt; nếu có JOIN. Dùng chung mô tả view cho các câu hỏi.</a:t>
            </a:r>
          </a:p>
        </p:txBody>
      </p:sp>
      <p:sp>
        <p:nvSpPr>
          <p:cNvPr id="15" name="">
            <a:extLst xmlns:a="http://schemas.openxmlformats.org/drawingml/2006/main">
              <a:ext uri="{FF2B5EF4-FFF2-40B4-BE49-F238E27FC236}">
                <a16:creationId xmlns:a16="http://schemas.microsoft.com/office/drawing/2014/main" id="{EC8029BB-2E2E-4507-8289-A6ABBB73ACD2}"/>
              </a:ext>
            </a:extLst>
          </p:cNvPr>
          <p:cNvSpPr>
            <a:spLocks xmlns:a="http://schemas.openxmlformats.org/drawingml/2006/main" noGrp="1"/>
          </p:cNvSpPr>
          <p:nvPr/>
        </p:nvSpPr>
        <p:spPr>
          <a:xfrm xmlns:a="http://schemas.openxmlformats.org/drawingml/2006/main">
            <a:off x="685800" y="5905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7E80"/>
                </a:solidFill>
                <a:latin typeface="Noto Sans"/>
                <a:ea typeface="Noto Sans"/>
                <a:cs typeface="Noto Sans"/>
              </a:defRPr>
            </a:pPr>
            <a:r>
              <a:rPr sz="1875" b="0">
                <a:solidFill>
                  <a:srgbClr val="007E80"/>
                </a:solidFill>
                <a:latin typeface="Noto Sans"/>
                <a:ea typeface="Noto Sans"/>
                <a:cs typeface="Noto Sans"/>
              </a:rPr>
              <a:t>Python sinh view theo quy tắc. LLM chỉ tham gia khi sinh dummy SQL và SQL cuối.</a:t>
            </a:r>
          </a:p>
        </p:txBody>
      </p:sp>
    </p:spTree>
    <p:extLst>
      <p:ext uri="{BB962C8B-B14F-4D97-AF65-F5344CB8AC3E}">
        <p14:creationId xmlns:p14="http://schemas.microsoft.com/office/powerpoint/2010/main" val="743263352"/>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79013F-DCF2-4000-803F-F93492ED9ED4}"/>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View viết tay và view auto khác nhau ở đâu?</a:t>
            </a:r>
          </a:p>
        </p:txBody>
      </p:sp>
      <p:sp>
        <p:nvSpPr>
          <p:cNvPr id="2" name="">
            <a:extLst xmlns:a="http://schemas.openxmlformats.org/drawingml/2006/main">
              <a:ext uri="{FF2B5EF4-FFF2-40B4-BE49-F238E27FC236}">
                <a16:creationId xmlns:a16="http://schemas.microsoft.com/office/drawing/2014/main" id="{9F4EC524-328F-4CF2-8A6E-7AB879925D89}"/>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9 / 12</a:t>
            </a:r>
          </a:p>
        </p:txBody>
      </p:sp>
      <p:sp>
        <p:nvSpPr>
          <p:cNvPr id="3" name="">
            <a:extLst xmlns:a="http://schemas.openxmlformats.org/drawingml/2006/main">
              <a:ext uri="{FF2B5EF4-FFF2-40B4-BE49-F238E27FC236}">
                <a16:creationId xmlns:a16="http://schemas.microsoft.com/office/drawing/2014/main" id="{E26A90B3-5759-42A1-9835-AEE8EEE5B53A}"/>
              </a:ext>
            </a:extLst>
          </p:cNvPr>
          <p:cNvSpPr>
            <a:spLocks xmlns:a="http://schemas.openxmlformats.org/drawingml/2006/main" noGrp="1"/>
          </p:cNvSpPr>
          <p:nvPr/>
        </p:nvSpPr>
        <p:spPr>
          <a:xfrm xmlns:a="http://schemas.openxmlformats.org/drawingml/2006/main">
            <a:off x="685800" y="15525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Ví dụ thực tế: v_hero_attribute trong file kết quả</a:t>
            </a:r>
          </a:p>
        </p:txBody>
      </p:sp>
      <p:graphicFrame>
        <p:nvGraphicFramePr>
          <p:cNvPr id="9" name=""/>
          <p:cNvGraphicFramePr/>
          <p:nvPr/>
        </p:nvGraphicFramePr>
        <p:xfrm>
          <a:off xmlns:a="http://schemas.openxmlformats.org/drawingml/2006/main" x="685800" y="2333625"/>
          <a:ext xmlns:a="http://schemas.openxmlformats.org/drawingml/2006/main" cx="10820400" cy="2905125"/>
        </p:xfrm>
        <a:graphic xmlns:a="http://schemas.openxmlformats.org/drawingml/2006/main">
          <a:graphicData uri="http://schemas.openxmlformats.org/drawingml/2006/table">
            <a:tbl>
              <a:tblPr/>
              <a:tblGrid>
                <a:gridCol w="3200400"/>
                <a:gridCol w="3429000"/>
                <a:gridCol w="4191000"/>
              </a:tblGrid>
              <a:tr h="581025">
                <a:tc>
                  <a:txBody>
                    <a:bodyPr/>
                    <a:lstStyle/>
                    <a:p>
                      <a:r>
                        <a:rPr sz="1875" b="1">
                          <a:solidFill>
                            <a:srgbClr val="FFFFFF"/>
                          </a:solidFill>
                          <a:latin typeface="Noto Sans"/>
                          <a:ea typeface="Noto Sans"/>
                          <a:cs typeface="Noto Sans"/>
                        </a:rPr>
                        <a:t>So sánh</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V-SQL viết tay</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Auto-V-SQL</a:t>
                      </a:r>
                    </a:p>
                  </a:txBody>
                  <a:tcPr marL="91440" marR="91440" marT="45720" marB="45720">
                    <a:solidFill>
                      <a:srgbClr val="132C3D"/>
                    </a:solidFill>
                  </a:tcPr>
                </a:tc>
              </a:tr>
              <a:tr h="581025">
                <a:tc>
                  <a:txBody>
                    <a:bodyPr/>
                    <a:lstStyle/>
                    <a:p>
                      <a:r>
                        <a:rPr sz="1875" b="0">
                          <a:solidFill>
                            <a:srgbClr val="132C3D"/>
                          </a:solidFill>
                          <a:latin typeface="Noto Sans"/>
                          <a:ea typeface="Noto Sans"/>
                          <a:cs typeface="Noto Sans"/>
                        </a:rPr>
                        <a:t>Chọn bảng nối</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Người viết chọn bảng</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FK trực tiếp, bảng đích ≤ 4 cột</a:t>
                      </a:r>
                    </a:p>
                  </a:txBody>
                  <a:tcPr marL="91440" marR="91440" marT="45720" marB="45720">
                    <a:solidFill>
                      <a:srgbClr val="F7F7F2"/>
                    </a:solidFill>
                  </a:tcPr>
                </a:tc>
              </a:tr>
              <a:tr h="581025">
                <a:tc>
                  <a:txBody>
                    <a:bodyPr/>
                    <a:lstStyle/>
                    <a:p>
                      <a:r>
                        <a:rPr sz="1875" b="0">
                          <a:solidFill>
                            <a:srgbClr val="132C3D"/>
                          </a:solidFill>
                          <a:latin typeface="Noto Sans"/>
                          <a:ea typeface="Noto Sans"/>
                          <a:cs typeface="Noto Sans"/>
                        </a:rPr>
                        <a:t>Bảng nối trong ví dụ</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superhero và attribute</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Chỉ attribute</a:t>
                      </a:r>
                    </a:p>
                  </a:txBody>
                  <a:tcPr marL="91440" marR="91440" marT="45720" marB="45720">
                    <a:solidFill>
                      <a:srgbClr val="F7F7F2"/>
                    </a:solidFill>
                  </a:tcPr>
                </a:tc>
              </a:tr>
              <a:tr h="581025">
                <a:tc>
                  <a:txBody>
                    <a:bodyPr/>
                    <a:lstStyle/>
                    <a:p>
                      <a:r>
                        <a:rPr sz="1875" b="0">
                          <a:solidFill>
                            <a:srgbClr val="132C3D"/>
                          </a:solidFill>
                          <a:latin typeface="Noto Sans"/>
                          <a:ea typeface="Noto Sans"/>
                          <a:cs typeface="Noto Sans"/>
                        </a:rPr>
                        <a:t>superhero_name trong view</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Có</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Không có</a:t>
                      </a:r>
                    </a:p>
                  </a:txBody>
                  <a:tcPr marL="91440" marR="91440" marT="45720" marB="45720">
                    <a:solidFill>
                      <a:srgbClr val="F7F7F2"/>
                    </a:solidFill>
                  </a:tcPr>
                </a:tc>
              </a:tr>
              <a:tr h="581025">
                <a:tc>
                  <a:txBody>
                    <a:bodyPr/>
                    <a:lstStyle/>
                    <a:p>
                      <a:r>
                        <a:rPr sz="1875" b="1">
                          <a:solidFill>
                            <a:srgbClr val="132C3D"/>
                          </a:solidFill>
                          <a:latin typeface="Noto Sans"/>
                          <a:ea typeface="Noto Sans"/>
                          <a:cs typeface="Noto Sans"/>
                        </a:rPr>
                        <a:t>Số view trong kết quả</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2 view</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3 view, thêm v_hero_power</a:t>
                      </a:r>
                    </a:p>
                  </a:txBody>
                  <a:tcPr marL="91440" marR="91440" marT="45720" marB="45720">
                    <a:solidFill>
                      <a:srgbClr val="E4F0ED"/>
                    </a:solidFill>
                  </a:tcPr>
                </a:tc>
              </a:tr>
            </a:tbl>
          </a:graphicData>
        </a:graphic>
      </p:graphicFrame>
      <p:sp>
        <p:nvSpPr>
          <p:cNvPr id="5" name="">
            <a:extLst xmlns:a="http://schemas.openxmlformats.org/drawingml/2006/main">
              <a:ext uri="{FF2B5EF4-FFF2-40B4-BE49-F238E27FC236}">
                <a16:creationId xmlns:a16="http://schemas.microsoft.com/office/drawing/2014/main" id="{1E651E6C-95C3-4D2C-838D-E1B381C92937}"/>
              </a:ext>
            </a:extLst>
          </p:cNvPr>
          <p:cNvSpPr>
            <a:spLocks xmlns:a="http://schemas.openxmlformats.org/drawingml/2006/main" noGrp="1"/>
          </p:cNvSpPr>
          <p:nvPr/>
        </p:nvSpPr>
        <p:spPr>
          <a:xfrm xmlns:a="http://schemas.openxmlformats.org/drawingml/2006/main">
            <a:off x="685800" y="55245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Auto bỏ superhero vì bảng vượt ngưỡng 4 cột.</a:t>
            </a:r>
          </a:p>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Khi cần tên siêu anh hùng, LLM phải bổ sung JOIN trong SQL.</a:t>
            </a:r>
          </a:p>
        </p:txBody>
      </p:sp>
    </p:spTree>
    <p:extLst>
      <p:ext uri="{BB962C8B-B14F-4D97-AF65-F5344CB8AC3E}">
        <p14:creationId xmlns:p14="http://schemas.microsoft.com/office/powerpoint/2010/main" val="1286715790"/>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A7A464-C385-4775-8D70-997264636010}"/>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Thiết lập thực nghiệm của tôi</a:t>
            </a:r>
          </a:p>
        </p:txBody>
      </p:sp>
      <p:sp>
        <p:nvSpPr>
          <p:cNvPr id="2" name="">
            <a:extLst xmlns:a="http://schemas.openxmlformats.org/drawingml/2006/main">
              <a:ext uri="{FF2B5EF4-FFF2-40B4-BE49-F238E27FC236}">
                <a16:creationId xmlns:a16="http://schemas.microsoft.com/office/drawing/2014/main" id="{A547645A-5302-483C-955A-4AF960E7EB5F}"/>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10 / 12</a:t>
            </a:r>
          </a:p>
        </p:txBody>
      </p:sp>
      <p:sp>
        <p:nvSpPr>
          <p:cNvPr id="3" name="">
            <a:extLst xmlns:a="http://schemas.openxmlformats.org/drawingml/2006/main">
              <a:ext uri="{FF2B5EF4-FFF2-40B4-BE49-F238E27FC236}">
                <a16:creationId xmlns:a16="http://schemas.microsoft.com/office/drawing/2014/main" id="{2FB748E7-788A-4CCC-BD72-D618FB62747F}"/>
              </a:ext>
            </a:extLst>
          </p:cNvPr>
          <p:cNvSpPr>
            <a:spLocks xmlns:a="http://schemas.openxmlformats.org/drawingml/2006/main" noGrp="1"/>
          </p:cNvSpPr>
          <p:nvPr/>
        </p:nvSpPr>
        <p:spPr>
          <a:xfrm xmlns:a="http://schemas.openxmlformats.org/drawingml/2006/main">
            <a:off x="685800" y="16764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07E80"/>
                </a:solidFill>
                <a:latin typeface="Noto Sans"/>
                <a:ea typeface="Noto Sans"/>
                <a:cs typeface="Noto Sans"/>
              </a:defRPr>
            </a:pPr>
            <a:r>
              <a:rPr sz="4125" b="1">
                <a:solidFill>
                  <a:srgbClr val="007E80"/>
                </a:solidFill>
                <a:latin typeface="Noto Sans"/>
                <a:ea typeface="Noto Sans"/>
                <a:cs typeface="Noto Sans"/>
              </a:rPr>
              <a:t>52 câu hỏi trên Superhero</a:t>
            </a:r>
          </a:p>
        </p:txBody>
      </p:sp>
      <p:sp>
        <p:nvSpPr>
          <p:cNvPr id="4" name="">
            <a:extLst xmlns:a="http://schemas.openxmlformats.org/drawingml/2006/main">
              <a:ext uri="{FF2B5EF4-FFF2-40B4-BE49-F238E27FC236}">
                <a16:creationId xmlns:a16="http://schemas.microsoft.com/office/drawing/2014/main" id="{C8D54B80-4E59-4F90-B06D-C89ED67E5B52}"/>
              </a:ext>
            </a:extLst>
          </p:cNvPr>
          <p:cNvSpPr>
            <a:spLocks xmlns:a="http://schemas.openxmlformats.org/drawingml/2006/main" noGrp="1"/>
          </p:cNvSpPr>
          <p:nvPr/>
        </p:nvSpPr>
        <p:spPr>
          <a:xfrm xmlns:a="http://schemas.openxmlformats.org/drawingml/2006/main">
            <a:off x="685800" y="267652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14 câu đơn giản, 26 câu trung bình, 12 câu khó</a:t>
            </a:r>
          </a:p>
        </p:txBody>
      </p:sp>
      <p:sp>
        <p:nvSpPr>
          <p:cNvPr id="5" name="">
            <a:extLst xmlns:a="http://schemas.openxmlformats.org/drawingml/2006/main">
              <a:ext uri="{FF2B5EF4-FFF2-40B4-BE49-F238E27FC236}">
                <a16:creationId xmlns:a16="http://schemas.microsoft.com/office/drawing/2014/main" id="{BDF9C0B3-5EB8-4E93-9C65-6CE4B1E4F7F1}"/>
              </a:ext>
            </a:extLst>
          </p:cNvPr>
          <p:cNvSpPr>
            <a:spLocks xmlns:a="http://schemas.openxmlformats.org/drawingml/2006/main" noGrp="1"/>
          </p:cNvSpPr>
          <p:nvPr/>
        </p:nvSpPr>
        <p:spPr>
          <a:xfrm xmlns:a="http://schemas.openxmlformats.org/drawingml/2006/main">
            <a:off x="685800" y="36766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C3D"/>
                </a:solidFill>
                <a:latin typeface="Noto Sans"/>
                <a:ea typeface="Noto Sans"/>
                <a:cs typeface="Noto Sans"/>
              </a:defRPr>
            </a:pPr>
            <a:r>
              <a:rPr sz="2175" b="1">
                <a:solidFill>
                  <a:srgbClr val="132C3D"/>
                </a:solidFill>
                <a:latin typeface="Noto Sans"/>
                <a:ea typeface="Noto Sans"/>
                <a:cs typeface="Noto Sans"/>
              </a:rPr>
              <a:t>Ba cấu hình trên cùng dữ liệu và mô hình</a:t>
            </a:r>
          </a:p>
        </p:txBody>
      </p:sp>
      <p:sp>
        <p:nvSpPr>
          <p:cNvPr id="6" name="">
            <a:extLst xmlns:a="http://schemas.openxmlformats.org/drawingml/2006/main">
              <a:ext uri="{FF2B5EF4-FFF2-40B4-BE49-F238E27FC236}">
                <a16:creationId xmlns:a16="http://schemas.microsoft.com/office/drawing/2014/main" id="{0AFF6A2E-B0C7-4DF6-9ADE-67DCE2ED7BCC}"/>
              </a:ext>
            </a:extLst>
          </p:cNvPr>
          <p:cNvSpPr>
            <a:spLocks xmlns:a="http://schemas.openxmlformats.org/drawingml/2006/main" noGrp="1"/>
          </p:cNvSpPr>
          <p:nvPr/>
        </p:nvSpPr>
        <p:spPr>
          <a:xfrm xmlns:a="http://schemas.openxmlformats.org/drawingml/2006/main">
            <a:off x="685800" y="4295775"/>
            <a:ext cx="108204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C3D"/>
                </a:solidFill>
                <a:latin typeface="Noto Sans"/>
                <a:ea typeface="Noto Sans"/>
                <a:cs typeface="Noto Sans"/>
              </a:defRPr>
            </a:pPr>
            <a:r>
              <a:rPr sz="2100" b="0">
                <a:solidFill>
                  <a:srgbClr val="132C3D"/>
                </a:solidFill>
                <a:latin typeface="Noto Sans"/>
                <a:ea typeface="Noto Sans"/>
                <a:cs typeface="Noto Sans"/>
              </a:rPr>
              <a:t>Direct: sinh SQL từ bảng gốc trong một lượt.</a:t>
            </a:r>
          </a:p>
          <a:p xmlns:a="http://schemas.openxmlformats.org/drawingml/2006/main">
            <a:pPr>
              <a:defRPr sz="2100" b="0">
                <a:solidFill>
                  <a:srgbClr val="132C3D"/>
                </a:solidFill>
                <a:latin typeface="Noto Sans"/>
                <a:ea typeface="Noto Sans"/>
                <a:cs typeface="Noto Sans"/>
              </a:defRPr>
            </a:pPr>
            <a:r>
              <a:rPr sz="2100" b="0">
                <a:solidFill>
                  <a:srgbClr val="132C3D"/>
                </a:solidFill>
                <a:latin typeface="Noto Sans"/>
                <a:ea typeface="Noto Sans"/>
                <a:cs typeface="Noto Sans"/>
              </a:rPr>
              <a:t>V-SQL: view viết tay và hai giai đoạn sinh SQL.</a:t>
            </a:r>
          </a:p>
          <a:p xmlns:a="http://schemas.openxmlformats.org/drawingml/2006/main">
            <a:pPr>
              <a:defRPr sz="2100" b="0">
                <a:solidFill>
                  <a:srgbClr val="132C3D"/>
                </a:solidFill>
                <a:latin typeface="Noto Sans"/>
                <a:ea typeface="Noto Sans"/>
                <a:cs typeface="Noto Sans"/>
              </a:defRPr>
            </a:pPr>
            <a:r>
              <a:rPr sz="2100" b="0">
                <a:solidFill>
                  <a:srgbClr val="132C3D"/>
                </a:solidFill>
                <a:latin typeface="Noto Sans"/>
                <a:ea typeface="Noto Sans"/>
                <a:cs typeface="Noto Sans"/>
              </a:rPr>
              <a:t>Auto-V-SQL: view tự động và hai giai đoạn sinh SQL.</a:t>
            </a:r>
          </a:p>
        </p:txBody>
      </p:sp>
      <p:sp>
        <p:nvSpPr>
          <p:cNvPr id="7" name="">
            <a:extLst xmlns:a="http://schemas.openxmlformats.org/drawingml/2006/main">
              <a:ext uri="{FF2B5EF4-FFF2-40B4-BE49-F238E27FC236}">
                <a16:creationId xmlns:a16="http://schemas.microsoft.com/office/drawing/2014/main" id="{ECAF58D5-627E-4A0B-B7D0-650833CC73FB}"/>
              </a:ext>
            </a:extLst>
          </p:cNvPr>
          <p:cNvSpPr>
            <a:spLocks xmlns:a="http://schemas.openxmlformats.org/drawingml/2006/main" noGrp="1"/>
          </p:cNvSpPr>
          <p:nvPr/>
        </p:nvSpPr>
        <p:spPr>
          <a:xfrm xmlns:a="http://schemas.openxmlformats.org/drawingml/2006/main">
            <a:off x="685800" y="59912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Mô hình cấu hình: gemini-3.5-flash-lite, temperature = 0</a:t>
            </a:r>
          </a:p>
        </p:txBody>
      </p:sp>
    </p:spTree>
    <p:extLst>
      <p:ext uri="{BB962C8B-B14F-4D97-AF65-F5344CB8AC3E}">
        <p14:creationId xmlns:p14="http://schemas.microsoft.com/office/powerpoint/2010/main" val="1726821643"/>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48BEB6-6593-45EB-A73E-8FC99DADD76A}"/>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Kết quả thực nghiệm của tôi</a:t>
            </a:r>
          </a:p>
        </p:txBody>
      </p:sp>
      <p:sp>
        <p:nvSpPr>
          <p:cNvPr id="2" name="">
            <a:extLst xmlns:a="http://schemas.openxmlformats.org/drawingml/2006/main">
              <a:ext uri="{FF2B5EF4-FFF2-40B4-BE49-F238E27FC236}">
                <a16:creationId xmlns:a16="http://schemas.microsoft.com/office/drawing/2014/main" id="{40253EC4-00A8-4F25-9D60-754DDB9E63F2}"/>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11 / 12</a:t>
            </a:r>
          </a:p>
        </p:txBody>
      </p:sp>
      <p:sp>
        <p:nvSpPr>
          <p:cNvPr id="3" name="">
            <a:extLst xmlns:a="http://schemas.openxmlformats.org/drawingml/2006/main">
              <a:ext uri="{FF2B5EF4-FFF2-40B4-BE49-F238E27FC236}">
                <a16:creationId xmlns:a16="http://schemas.microsoft.com/office/drawing/2014/main" id="{4867FC20-D967-478F-B216-E7C546CFE7E6}"/>
              </a:ext>
            </a:extLst>
          </p:cNvPr>
          <p:cNvSpPr>
            <a:spLocks xmlns:a="http://schemas.openxmlformats.org/drawingml/2006/main" noGrp="1"/>
          </p:cNvSpPr>
          <p:nvPr/>
        </p:nvSpPr>
        <p:spPr>
          <a:xfrm xmlns:a="http://schemas.openxmlformats.org/drawingml/2006/main">
            <a:off x="685800" y="1495425"/>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EX theo bộ chấm hiện tại (%)</a:t>
            </a:r>
          </a:p>
        </p:txBody>
      </p:sp>
      <p:graphicFrame>
        <p:nvGraphicFramePr>
          <p:cNvPr id="10" name="Chart"/>
          <p:cNvGraphicFramePr/>
          <p:nvPr/>
        </p:nvGraphicFramePr>
        <p:xfrm>
          <a:off xmlns:a="http://schemas.openxmlformats.org/drawingml/2006/main" x="619125" y="1924050"/>
          <a:ext xmlns:a="http://schemas.openxmlformats.org/drawingml/2006/main" cx="10763250" cy="3714750"/>
        </p:xfrm>
        <a:graphic xmlns:a="http://schemas.openxmlformats.org/drawingml/2006/main">
          <a:graphicData uri="http://schemas.openxmlformats.org/drawingml/2006/chart">
            <c:chart xmlns:r="http://schemas.openxmlformats.org/officeDocument/2006/relationships" xmlns:c="http://schemas.openxmlformats.org/drawingml/2006/chart" r:id="Rbbe7af6109ff417d"/>
          </a:graphicData>
        </a:graphic>
      </p:graphicFrame>
      <p:sp>
        <p:nvSpPr>
          <p:cNvPr id="5" name="">
            <a:extLst xmlns:a="http://schemas.openxmlformats.org/drawingml/2006/main">
              <a:ext uri="{FF2B5EF4-FFF2-40B4-BE49-F238E27FC236}">
                <a16:creationId xmlns:a16="http://schemas.microsoft.com/office/drawing/2014/main" id="{7AF51A99-DC62-4C3B-A0FD-2349C09860CF}"/>
              </a:ext>
            </a:extLst>
          </p:cNvPr>
          <p:cNvSpPr>
            <a:spLocks xmlns:a="http://schemas.openxmlformats.org/drawingml/2006/main" noGrp="1"/>
          </p:cNvSpPr>
          <p:nvPr/>
        </p:nvSpPr>
        <p:spPr>
          <a:xfrm xmlns:a="http://schemas.openxmlformats.org/drawingml/2006/main">
            <a:off x="685800" y="57435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D"/>
                </a:solidFill>
                <a:latin typeface="Noto Sans"/>
                <a:ea typeface="Noto Sans"/>
                <a:cs typeface="Noto Sans"/>
              </a:defRPr>
            </a:pPr>
            <a:r>
              <a:rPr sz="1875" b="1">
                <a:solidFill>
                  <a:srgbClr val="132C3D"/>
                </a:solidFill>
                <a:latin typeface="Noto Sans"/>
                <a:ea typeface="Noto Sans"/>
                <a:cs typeface="Noto Sans"/>
              </a:rPr>
              <a:t>Tổng câu đúng: Direct 43/52, V-SQL viết tay 44/52, Auto-V-SQL 43/52.</a:t>
            </a:r>
          </a:p>
        </p:txBody>
      </p:sp>
      <p:sp>
        <p:nvSpPr>
          <p:cNvPr id="6" name="">
            <a:extLst xmlns:a="http://schemas.openxmlformats.org/drawingml/2006/main">
              <a:ext uri="{FF2B5EF4-FFF2-40B4-BE49-F238E27FC236}">
                <a16:creationId xmlns:a16="http://schemas.microsoft.com/office/drawing/2014/main" id="{A1B92D77-41AA-4DB7-8294-63220F8E8B9D}"/>
              </a:ext>
            </a:extLst>
          </p:cNvPr>
          <p:cNvSpPr>
            <a:spLocks xmlns:a="http://schemas.openxmlformats.org/drawingml/2006/main" noGrp="1"/>
          </p:cNvSpPr>
          <p:nvPr/>
        </p:nvSpPr>
        <p:spPr>
          <a:xfrm xmlns:a="http://schemas.openxmlformats.org/drawingml/2006/main">
            <a:off x="685800" y="61912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5"/>
                </a:solidFill>
                <a:latin typeface="Noto Sans"/>
                <a:ea typeface="Noto Sans"/>
                <a:cs typeface="Noto Sans"/>
              </a:defRPr>
            </a:pPr>
            <a:r>
              <a:rPr sz="1650" b="0">
                <a:solidFill>
                  <a:srgbClr val="526775"/>
                </a:solidFill>
                <a:latin typeface="Noto Sans"/>
                <a:ea typeface="Noto Sans"/>
                <a:cs typeface="Noto Sans"/>
              </a:rPr>
              <a:t>SQL chạy được: Direct 51/52. Hai cấu hình view đều đạt 52/52.</a:t>
            </a:r>
          </a:p>
        </p:txBody>
      </p:sp>
    </p:spTree>
    <p:extLst>
      <p:ext uri="{BB962C8B-B14F-4D97-AF65-F5344CB8AC3E}">
        <p14:creationId xmlns:p14="http://schemas.microsoft.com/office/powerpoint/2010/main" val="1630275734"/>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7384E3-67D4-400F-A5EF-432D1A170C88}"/>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Nhận xét sau thực nghiệm</a:t>
            </a:r>
          </a:p>
        </p:txBody>
      </p:sp>
      <p:sp>
        <p:nvSpPr>
          <p:cNvPr id="2" name="">
            <a:extLst xmlns:a="http://schemas.openxmlformats.org/drawingml/2006/main">
              <a:ext uri="{FF2B5EF4-FFF2-40B4-BE49-F238E27FC236}">
                <a16:creationId xmlns:a16="http://schemas.microsoft.com/office/drawing/2014/main" id="{C55F552A-6329-40E5-8E37-D768525CA1B4}"/>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12 / 12</a:t>
            </a:r>
          </a:p>
        </p:txBody>
      </p:sp>
      <p:sp>
        <p:nvSpPr>
          <p:cNvPr id="3" name="">
            <a:extLst xmlns:a="http://schemas.openxmlformats.org/drawingml/2006/main">
              <a:ext uri="{FF2B5EF4-FFF2-40B4-BE49-F238E27FC236}">
                <a16:creationId xmlns:a16="http://schemas.microsoft.com/office/drawing/2014/main" id="{01398CAB-1258-4E37-957C-96152E9AD045}"/>
              </a:ext>
            </a:extLst>
          </p:cNvPr>
          <p:cNvSpPr>
            <a:spLocks xmlns:a="http://schemas.openxmlformats.org/drawingml/2006/main" noGrp="1"/>
          </p:cNvSpPr>
          <p:nvPr/>
        </p:nvSpPr>
        <p:spPr>
          <a:xfrm xmlns:a="http://schemas.openxmlformats.org/drawingml/2006/main">
            <a:off x="685800" y="16764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Từ bài báo</a:t>
            </a:r>
          </a:p>
        </p:txBody>
      </p:sp>
      <p:sp>
        <p:nvSpPr>
          <p:cNvPr id="4" name="">
            <a:extLst xmlns:a="http://schemas.openxmlformats.org/drawingml/2006/main">
              <a:ext uri="{FF2B5EF4-FFF2-40B4-BE49-F238E27FC236}">
                <a16:creationId xmlns:a16="http://schemas.microsoft.com/office/drawing/2014/main" id="{7096D0BA-79CC-4E8D-98DF-1B2DE931DB96}"/>
              </a:ext>
            </a:extLst>
          </p:cNvPr>
          <p:cNvSpPr>
            <a:spLocks xmlns:a="http://schemas.openxmlformats.org/drawingml/2006/main" noGrp="1"/>
          </p:cNvSpPr>
          <p:nvPr/>
        </p:nvSpPr>
        <p:spPr>
          <a:xfrm xmlns:a="http://schemas.openxmlformats.org/drawingml/2006/main">
            <a:off x="685800" y="2209800"/>
            <a:ext cx="10820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View giúp mô tả các thuộc tính liên quan cho LLM.</a:t>
            </a:r>
          </a:p>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Hai giai đoạn tách SQL trung gian và SQL chạy trên bảng gốc.</a:t>
            </a:r>
          </a:p>
        </p:txBody>
      </p:sp>
      <p:sp>
        <p:nvSpPr>
          <p:cNvPr id="5" name="">
            <a:extLst xmlns:a="http://schemas.openxmlformats.org/drawingml/2006/main">
              <a:ext uri="{FF2B5EF4-FFF2-40B4-BE49-F238E27FC236}">
                <a16:creationId xmlns:a16="http://schemas.microsoft.com/office/drawing/2014/main" id="{877C4FF7-035D-4EB7-A9D1-253EFDBA0692}"/>
              </a:ext>
            </a:extLst>
          </p:cNvPr>
          <p:cNvSpPr>
            <a:spLocks xmlns:a="http://schemas.openxmlformats.org/drawingml/2006/main" noGrp="1"/>
          </p:cNvSpPr>
          <p:nvPr/>
        </p:nvSpPr>
        <p:spPr>
          <a:xfrm xmlns:a="http://schemas.openxmlformats.org/drawingml/2006/main">
            <a:off x="685800" y="35909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Từ thực nghiệm của tôi</a:t>
            </a:r>
          </a:p>
        </p:txBody>
      </p:sp>
      <p:sp>
        <p:nvSpPr>
          <p:cNvPr id="6" name="">
            <a:extLst xmlns:a="http://schemas.openxmlformats.org/drawingml/2006/main">
              <a:ext uri="{FF2B5EF4-FFF2-40B4-BE49-F238E27FC236}">
                <a16:creationId xmlns:a16="http://schemas.microsoft.com/office/drawing/2014/main" id="{AA1155D0-B0DC-46C5-BF69-6377D9251C7E}"/>
              </a:ext>
            </a:extLst>
          </p:cNvPr>
          <p:cNvSpPr>
            <a:spLocks xmlns:a="http://schemas.openxmlformats.org/drawingml/2006/main" noGrp="1"/>
          </p:cNvSpPr>
          <p:nvPr/>
        </p:nvSpPr>
        <p:spPr>
          <a:xfrm xmlns:a="http://schemas.openxmlformats.org/drawingml/2006/main">
            <a:off x="685800" y="41338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Đã tự động hóa tạo view, EX tổng bằng Direct.</a:t>
            </a:r>
          </a:p>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Auto hơn 1 câu trung bình, nhưng thấp hơn 1 câu khó.</a:t>
            </a:r>
          </a:p>
        </p:txBody>
      </p:sp>
      <p:sp>
        <p:nvSpPr>
          <p:cNvPr id="7" name="">
            <a:extLst xmlns:a="http://schemas.openxmlformats.org/drawingml/2006/main">
              <a:ext uri="{FF2B5EF4-FFF2-40B4-BE49-F238E27FC236}">
                <a16:creationId xmlns:a16="http://schemas.microsoft.com/office/drawing/2014/main" id="{1D1A1DDD-C547-41BA-8F69-57CD05935E29}"/>
              </a:ext>
            </a:extLst>
          </p:cNvPr>
          <p:cNvSpPr>
            <a:spLocks xmlns:a="http://schemas.openxmlformats.org/drawingml/2006/main" noGrp="1"/>
          </p:cNvSpPr>
          <p:nvPr/>
        </p:nvSpPr>
        <p:spPr>
          <a:xfrm xmlns:a="http://schemas.openxmlformats.org/drawingml/2006/main">
            <a:off x="685800" y="5562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Giới hạn: một DB. Bộ chấm bỏ thứ tự và số lần lặp của hàng.</a:t>
            </a:r>
          </a:p>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Chưa thể so điểm trực tiếp với bài gốc. Cần thử thêm DB và đo chi phí.</a:t>
            </a:r>
          </a:p>
        </p:txBody>
      </p:sp>
    </p:spTree>
    <p:extLst>
      <p:ext uri="{BB962C8B-B14F-4D97-AF65-F5344CB8AC3E}">
        <p14:creationId xmlns:p14="http://schemas.microsoft.com/office/powerpoint/2010/main" val="657106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2026-10-06T12:14:48.1230000Z</dcterms:created>
  <dcterms:modified xsi:type="dcterms:W3CDTF">2026-10-06T12:14:48.1230000Z</dcterms:modified>
</coreProperties>
</file>